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66" r:id="rId2"/>
    <p:sldId id="267" r:id="rId3"/>
    <p:sldId id="268" r:id="rId4"/>
    <p:sldId id="269" r:id="rId5"/>
    <p:sldId id="270" r:id="rId6"/>
    <p:sldId id="271" r:id="rId7"/>
    <p:sldId id="272" r:id="rId8"/>
    <p:sldId id="273" r:id="rId9"/>
    <p:sldId id="274" r:id="rId10"/>
    <p:sldId id="27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95089"/>
  </p:normalViewPr>
  <p:slideViewPr>
    <p:cSldViewPr snapToGrid="0" snapToObjects="1">
      <p:cViewPr varScale="1">
        <p:scale>
          <a:sx n="135" d="100"/>
          <a:sy n="135" d="100"/>
        </p:scale>
        <p:origin x="86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1412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AskHAW presentation. AskHAW is an AI-powered chatbot prototype designed to help students at Hamburg University of Applied Sciences navigate online services more easily. The system is bilingual, supporting both English and German, and was built in May 2026. Today I will walk you through the problem it solves, how the architecture works, and the key design decisions behind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explain the problem AskHAW solves. Students at HAW Hamburg face three major challenges. First, information is scattered across many platforms — myHAW portal, IT helpdesk, exam pages, and faculty sites — spanning dozens of URLs with no single point of access. Second, international students face a real language barrier since most official pages are in German, making navigation difficult for those unfamiliar with the language. Third, there is no conversational interface — existing search tools require users to already know the right keywords and where to look. AskHAW solves all three problems by providing a single bilingual chat interface grounded in real HAW content.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A56DB"/>
          </a:solidFill>
          <a:ln/>
        </p:spPr>
        <p:txBody>
          <a:bodyPr/>
          <a:lstStyle/>
          <a:p>
            <a:endParaRPr lang="en-US"/>
          </a:p>
        </p:txBody>
      </p:sp>
      <p:sp>
        <p:nvSpPr>
          <p:cNvPr id="3" name="Text 1"/>
          <p:cNvSpPr/>
          <p:nvPr/>
        </p:nvSpPr>
        <p:spPr>
          <a:xfrm>
            <a:off x="502920" y="1097280"/>
            <a:ext cx="5029200" cy="1280160"/>
          </a:xfrm>
          <a:prstGeom prst="rect">
            <a:avLst/>
          </a:prstGeom>
          <a:noFill/>
          <a:ln/>
        </p:spPr>
        <p:txBody>
          <a:bodyPr wrap="square" rtlCol="0" anchor="ctr"/>
          <a:lstStyle/>
          <a:p>
            <a:pPr marL="0" indent="0">
              <a:buNone/>
            </a:pPr>
            <a:r>
              <a:rPr lang="en-US" sz="7200" b="1" dirty="0">
                <a:solidFill>
                  <a:srgbClr val="FFFFFF"/>
                </a:solidFill>
                <a:latin typeface="Calibri" pitchFamily="34" charset="0"/>
                <a:ea typeface="Calibri" pitchFamily="34" charset="-122"/>
                <a:cs typeface="Calibri" pitchFamily="34" charset="-120"/>
              </a:rPr>
              <a:t>AskHAW</a:t>
            </a:r>
            <a:endParaRPr lang="en-US" sz="7200" dirty="0"/>
          </a:p>
        </p:txBody>
      </p:sp>
      <p:sp>
        <p:nvSpPr>
          <p:cNvPr id="4" name="Text 2"/>
          <p:cNvSpPr/>
          <p:nvPr/>
        </p:nvSpPr>
        <p:spPr>
          <a:xfrm>
            <a:off x="502920" y="2331720"/>
            <a:ext cx="5943600" cy="594360"/>
          </a:xfrm>
          <a:prstGeom prst="rect">
            <a:avLst/>
          </a:prstGeom>
          <a:noFill/>
          <a:ln/>
        </p:spPr>
        <p:txBody>
          <a:bodyPr wrap="square" rtlCol="0" anchor="ctr"/>
          <a:lstStyle/>
          <a:p>
            <a:pPr marL="0" indent="0">
              <a:buNone/>
            </a:pPr>
            <a:r>
              <a:rPr lang="en-US" sz="2200" dirty="0">
                <a:solidFill>
                  <a:srgbClr val="76A9FA"/>
                </a:solidFill>
                <a:latin typeface="Calibri" pitchFamily="34" charset="0"/>
                <a:ea typeface="Calibri" pitchFamily="34" charset="-122"/>
                <a:cs typeface="Calibri" pitchFamily="34" charset="-120"/>
              </a:rPr>
              <a:t>AI Chatbot for HAW Hamburg Online Services</a:t>
            </a:r>
            <a:endParaRPr lang="en-US" sz="2200" dirty="0"/>
          </a:p>
        </p:txBody>
      </p:sp>
      <p:sp>
        <p:nvSpPr>
          <p:cNvPr id="5" name="Shape 3"/>
          <p:cNvSpPr/>
          <p:nvPr/>
        </p:nvSpPr>
        <p:spPr>
          <a:xfrm>
            <a:off x="502920" y="3017520"/>
            <a:ext cx="5029200" cy="0"/>
          </a:xfrm>
          <a:prstGeom prst="line">
            <a:avLst/>
          </a:prstGeom>
          <a:noFill/>
          <a:ln w="19050">
            <a:solidFill>
              <a:srgbClr val="1A56DB"/>
            </a:solidFill>
            <a:prstDash val="solid"/>
          </a:ln>
        </p:spPr>
        <p:txBody>
          <a:bodyPr/>
          <a:lstStyle/>
          <a:p>
            <a:endParaRPr lang="en-US"/>
          </a:p>
        </p:txBody>
      </p:sp>
      <p:sp>
        <p:nvSpPr>
          <p:cNvPr id="6" name="Text 4"/>
          <p:cNvSpPr/>
          <p:nvPr/>
        </p:nvSpPr>
        <p:spPr>
          <a:xfrm>
            <a:off x="502920" y="3200400"/>
            <a:ext cx="594360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Prototype  </a:t>
            </a:r>
            <a:r>
              <a:rPr lang="en-US" sz="1300" dirty="0">
                <a:solidFill>
                  <a:srgbClr val="94A3B8"/>
                </a:solidFill>
                <a:latin typeface="Calibri" pitchFamily="34" charset="0"/>
                <a:ea typeface="Calibri" pitchFamily="34" charset="-122"/>
                <a:cs typeface="Calibri" pitchFamily="34" charset="-120"/>
              </a:rPr>
              <a:t>·  Bilingual (EN / DE)  ·  May 2026</a:t>
            </a:r>
            <a:endParaRPr lang="en-US" sz="1300" dirty="0"/>
          </a:p>
        </p:txBody>
      </p:sp>
      <p:sp>
        <p:nvSpPr>
          <p:cNvPr id="8" name="Text 6"/>
          <p:cNvSpPr/>
          <p:nvPr/>
        </p:nvSpPr>
        <p:spPr>
          <a:xfrm>
            <a:off x="7315200" y="1234440"/>
            <a:ext cx="1463040" cy="411480"/>
          </a:xfrm>
          <a:prstGeom prst="rect">
            <a:avLst/>
          </a:prstGeom>
          <a:noFill/>
          <a:ln/>
        </p:spPr>
        <p:txBody>
          <a:bodyPr wrap="square" rtlCol="0" anchor="ctr"/>
          <a:lstStyle/>
          <a:p>
            <a:pPr marL="0" indent="0" algn="ctr">
              <a:buNone/>
            </a:pPr>
            <a:endParaRPr lang="en-US" sz="3000" dirty="0"/>
          </a:p>
        </p:txBody>
      </p:sp>
      <p:sp>
        <p:nvSpPr>
          <p:cNvPr id="16" name="Text 14"/>
          <p:cNvSpPr/>
          <p:nvPr/>
        </p:nvSpPr>
        <p:spPr>
          <a:xfrm>
            <a:off x="502920" y="4663440"/>
            <a:ext cx="8229600" cy="27432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Hamburg University of Applied Sciences</a:t>
            </a:r>
            <a:endParaRPr lang="en-US" sz="1000" dirty="0"/>
          </a:p>
        </p:txBody>
      </p:sp>
    </p:spTree>
    <p:extLst>
      <p:ext uri="{BB962C8B-B14F-4D97-AF65-F5344CB8AC3E}">
        <p14:creationId xmlns:p14="http://schemas.microsoft.com/office/powerpoint/2010/main" val="12409444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228600"/>
            <a:ext cx="1371600" cy="256032"/>
          </a:xfrm>
          <a:prstGeom prst="roundRect">
            <a:avLst>
              <a:gd name="adj" fmla="val 21429"/>
            </a:avLst>
          </a:prstGeom>
          <a:solidFill>
            <a:srgbClr val="1A56DB"/>
          </a:solidFill>
          <a:ln/>
        </p:spPr>
        <p:txBody>
          <a:bodyPr/>
          <a:lstStyle/>
          <a:p>
            <a:endParaRPr lang="en-US"/>
          </a:p>
        </p:txBody>
      </p:sp>
      <p:sp>
        <p:nvSpPr>
          <p:cNvPr id="3" name="Text 1"/>
          <p:cNvSpPr/>
          <p:nvPr/>
        </p:nvSpPr>
        <p:spPr>
          <a:xfrm>
            <a:off x="365760" y="228600"/>
            <a:ext cx="1371600" cy="256032"/>
          </a:xfrm>
          <a:prstGeom prst="rect">
            <a:avLst/>
          </a:prstGeom>
          <a:noFill/>
          <a:ln/>
        </p:spPr>
        <p:txBody>
          <a:bodyPr wrap="square" lIns="0" tIns="0" rIns="0" bIns="0" rtlCol="0" anchor="ctr"/>
          <a:lstStyle/>
          <a:p>
            <a:pPr marL="0" indent="0" algn="ctr">
              <a:buNone/>
            </a:pPr>
            <a:r>
              <a:rPr lang="en-US" sz="800" b="1" dirty="0">
                <a:solidFill>
                  <a:srgbClr val="FFFFFF"/>
                </a:solidFill>
              </a:rPr>
              <a:t>THE PROBLEM</a:t>
            </a:r>
            <a:endParaRPr lang="en-US" sz="800" dirty="0"/>
          </a:p>
        </p:txBody>
      </p:sp>
      <p:sp>
        <p:nvSpPr>
          <p:cNvPr id="4" name="Text 2"/>
          <p:cNvSpPr/>
          <p:nvPr/>
        </p:nvSpPr>
        <p:spPr>
          <a:xfrm>
            <a:off x="8321040" y="4846320"/>
            <a:ext cx="731520" cy="182880"/>
          </a:xfrm>
          <a:prstGeom prst="rect">
            <a:avLst/>
          </a:prstGeom>
          <a:noFill/>
          <a:ln/>
        </p:spPr>
        <p:txBody>
          <a:bodyPr wrap="square" rtlCol="0" anchor="ctr"/>
          <a:lstStyle/>
          <a:p>
            <a:pPr marL="0" indent="0" algn="r">
              <a:buNone/>
            </a:pPr>
            <a:r>
              <a:rPr lang="en-US" sz="900" dirty="0">
                <a:solidFill>
                  <a:srgbClr val="94A3B8"/>
                </a:solidFill>
              </a:rPr>
              <a:t>2 / 10</a:t>
            </a:r>
            <a:endParaRPr lang="en-US" sz="900" dirty="0"/>
          </a:p>
        </p:txBody>
      </p:sp>
      <p:sp>
        <p:nvSpPr>
          <p:cNvPr id="5" name="Text 3"/>
          <p:cNvSpPr/>
          <p:nvPr/>
        </p:nvSpPr>
        <p:spPr>
          <a:xfrm>
            <a:off x="365760" y="594360"/>
            <a:ext cx="8412480" cy="594360"/>
          </a:xfrm>
          <a:prstGeom prst="rect">
            <a:avLst/>
          </a:prstGeom>
          <a:noFill/>
          <a:ln/>
        </p:spPr>
        <p:txBody>
          <a:bodyPr wrap="square" rtlCol="0" anchor="ctr"/>
          <a:lstStyle/>
          <a:p>
            <a:pPr marL="0" indent="0">
              <a:buNone/>
            </a:pPr>
            <a:r>
              <a:rPr lang="en-US" sz="3000" b="1" dirty="0">
                <a:solidFill>
                  <a:srgbClr val="334155"/>
                </a:solidFill>
                <a:latin typeface="Calibri" pitchFamily="34" charset="0"/>
                <a:ea typeface="Calibri" pitchFamily="34" charset="-122"/>
                <a:cs typeface="Calibri" pitchFamily="34" charset="-120"/>
              </a:rPr>
              <a:t>Students struggle to find HAW information</a:t>
            </a:r>
            <a:endParaRPr lang="en-US" sz="3000" dirty="0"/>
          </a:p>
        </p:txBody>
      </p:sp>
      <p:sp>
        <p:nvSpPr>
          <p:cNvPr id="6" name="Shape 4"/>
          <p:cNvSpPr/>
          <p:nvPr/>
        </p:nvSpPr>
        <p:spPr>
          <a:xfrm>
            <a:off x="365760" y="1417320"/>
            <a:ext cx="2651760" cy="2560320"/>
          </a:xfrm>
          <a:prstGeom prst="rect">
            <a:avLst/>
          </a:prstGeom>
          <a:solidFill>
            <a:srgbClr val="FFFFFF"/>
          </a:solidFill>
          <a:ln w="6350">
            <a:solidFill>
              <a:srgbClr val="DDE3EA"/>
            </a:solidFill>
            <a:prstDash val="solid"/>
          </a:ln>
          <a:effectLst>
            <a:outerShdw blurRad="101600" dist="38100" dir="8100000" algn="bl" rotWithShape="0">
              <a:srgbClr val="000000">
                <a:alpha val="12000"/>
              </a:srgbClr>
            </a:outerShdw>
          </a:effectLst>
        </p:spPr>
        <p:txBody>
          <a:bodyPr/>
          <a:lstStyle/>
          <a:p>
            <a:endParaRPr lang="en-US"/>
          </a:p>
        </p:txBody>
      </p:sp>
      <p:sp>
        <p:nvSpPr>
          <p:cNvPr id="7" name="Shape 5"/>
          <p:cNvSpPr/>
          <p:nvPr/>
        </p:nvSpPr>
        <p:spPr>
          <a:xfrm>
            <a:off x="1325880" y="1581912"/>
            <a:ext cx="658368" cy="658368"/>
          </a:xfrm>
          <a:prstGeom prst="ellipse">
            <a:avLst/>
          </a:prstGeom>
          <a:solidFill>
            <a:srgbClr val="EBF5FF"/>
          </a:solidFill>
          <a:ln w="12700">
            <a:solidFill>
              <a:srgbClr val="76A9FA"/>
            </a:solidFill>
            <a:prstDash val="solid"/>
          </a:ln>
        </p:spPr>
        <p:txBody>
          <a:bodyPr/>
          <a:lstStyle/>
          <a:p>
            <a:endParaRPr lang="en-US"/>
          </a:p>
        </p:txBody>
      </p:sp>
      <p:sp>
        <p:nvSpPr>
          <p:cNvPr id="8" name="Text 6"/>
          <p:cNvSpPr/>
          <p:nvPr/>
        </p:nvSpPr>
        <p:spPr>
          <a:xfrm>
            <a:off x="1325880" y="1581912"/>
            <a:ext cx="658368" cy="658368"/>
          </a:xfrm>
          <a:prstGeom prst="rect">
            <a:avLst/>
          </a:prstGeom>
          <a:noFill/>
          <a:ln/>
        </p:spPr>
        <p:txBody>
          <a:bodyPr wrap="square" lIns="0" tIns="0" rIns="0" bIns="0" rtlCol="0" anchor="ctr"/>
          <a:lstStyle/>
          <a:p>
            <a:pPr marL="0" indent="0" algn="ctr">
              <a:buNone/>
            </a:pPr>
            <a:r>
              <a:rPr lang="en-US" sz="1800" b="1" dirty="0">
                <a:solidFill>
                  <a:srgbClr val="1A56DB"/>
                </a:solidFill>
              </a:rPr>
              <a:t>?</a:t>
            </a:r>
            <a:endParaRPr lang="en-US" sz="1800" dirty="0"/>
          </a:p>
        </p:txBody>
      </p:sp>
      <p:sp>
        <p:nvSpPr>
          <p:cNvPr id="9" name="Text 7"/>
          <p:cNvSpPr/>
          <p:nvPr/>
        </p:nvSpPr>
        <p:spPr>
          <a:xfrm>
            <a:off x="530352" y="2377440"/>
            <a:ext cx="2331720" cy="411480"/>
          </a:xfrm>
          <a:prstGeom prst="rect">
            <a:avLst/>
          </a:prstGeom>
          <a:noFill/>
          <a:ln/>
        </p:spPr>
        <p:txBody>
          <a:bodyPr wrap="square" rtlCol="0" anchor="ctr"/>
          <a:lstStyle/>
          <a:p>
            <a:pPr marL="0" indent="0" algn="ctr">
              <a:buNone/>
            </a:pPr>
            <a:r>
              <a:rPr lang="en-US" sz="1300" b="1" dirty="0">
                <a:solidFill>
                  <a:srgbClr val="334155"/>
                </a:solidFill>
                <a:latin typeface="Calibri" pitchFamily="34" charset="0"/>
                <a:ea typeface="Calibri" pitchFamily="34" charset="-122"/>
                <a:cs typeface="Calibri" pitchFamily="34" charset="-120"/>
              </a:rPr>
              <a:t>Too many places to look</a:t>
            </a:r>
            <a:endParaRPr lang="en-US" sz="1300" dirty="0"/>
          </a:p>
        </p:txBody>
      </p:sp>
      <p:sp>
        <p:nvSpPr>
          <p:cNvPr id="10" name="Text 8"/>
          <p:cNvSpPr/>
          <p:nvPr/>
        </p:nvSpPr>
        <p:spPr>
          <a:xfrm>
            <a:off x="530352" y="2788920"/>
            <a:ext cx="2331720" cy="1005840"/>
          </a:xfrm>
          <a:prstGeom prst="rect">
            <a:avLst/>
          </a:prstGeom>
          <a:noFill/>
          <a:ln/>
        </p:spPr>
        <p:txBody>
          <a:bodyPr wrap="square" rtlCol="0" anchor="t"/>
          <a:lstStyle/>
          <a:p>
            <a:pPr marL="0" indent="0" algn="ctr">
              <a:buNone/>
            </a:pPr>
            <a:r>
              <a:rPr lang="en-US" sz="1100" dirty="0">
                <a:solidFill>
                  <a:srgbClr val="94A3B8"/>
                </a:solidFill>
              </a:rPr>
              <a:t>myHAW portal, IT helpdesk, exam pages, faculty sites — scattered across dozens of URLs</a:t>
            </a:r>
            <a:endParaRPr lang="en-US" sz="1100" dirty="0"/>
          </a:p>
        </p:txBody>
      </p:sp>
      <p:sp>
        <p:nvSpPr>
          <p:cNvPr id="11" name="Shape 9"/>
          <p:cNvSpPr/>
          <p:nvPr/>
        </p:nvSpPr>
        <p:spPr>
          <a:xfrm>
            <a:off x="3200400" y="1417320"/>
            <a:ext cx="2651760" cy="2560320"/>
          </a:xfrm>
          <a:prstGeom prst="rect">
            <a:avLst/>
          </a:prstGeom>
          <a:solidFill>
            <a:srgbClr val="FFFFFF"/>
          </a:solidFill>
          <a:ln w="6350">
            <a:solidFill>
              <a:srgbClr val="DDE3EA"/>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10"/>
          <p:cNvSpPr/>
          <p:nvPr/>
        </p:nvSpPr>
        <p:spPr>
          <a:xfrm>
            <a:off x="4160520" y="1581912"/>
            <a:ext cx="658368" cy="658368"/>
          </a:xfrm>
          <a:prstGeom prst="ellipse">
            <a:avLst/>
          </a:prstGeom>
          <a:solidFill>
            <a:srgbClr val="EBF5FF"/>
          </a:solidFill>
          <a:ln w="12700">
            <a:solidFill>
              <a:srgbClr val="76A9FA"/>
            </a:solidFill>
            <a:prstDash val="solid"/>
          </a:ln>
        </p:spPr>
        <p:txBody>
          <a:bodyPr/>
          <a:lstStyle/>
          <a:p>
            <a:endParaRPr lang="en-US"/>
          </a:p>
        </p:txBody>
      </p:sp>
      <p:sp>
        <p:nvSpPr>
          <p:cNvPr id="13" name="Text 11"/>
          <p:cNvSpPr/>
          <p:nvPr/>
        </p:nvSpPr>
        <p:spPr>
          <a:xfrm>
            <a:off x="4160520" y="1581912"/>
            <a:ext cx="658368" cy="658368"/>
          </a:xfrm>
          <a:prstGeom prst="rect">
            <a:avLst/>
          </a:prstGeom>
          <a:noFill/>
          <a:ln/>
        </p:spPr>
        <p:txBody>
          <a:bodyPr wrap="square" lIns="0" tIns="0" rIns="0" bIns="0" rtlCol="0" anchor="ctr"/>
          <a:lstStyle/>
          <a:p>
            <a:pPr marL="0" indent="0" algn="ctr">
              <a:buNone/>
            </a:pPr>
            <a:r>
              <a:rPr lang="en-US" sz="800" b="1" dirty="0">
                <a:solidFill>
                  <a:srgbClr val="1A56DB"/>
                </a:solidFill>
              </a:rPr>
              <a:t>EN/DE</a:t>
            </a:r>
            <a:endParaRPr lang="en-US" sz="800" dirty="0"/>
          </a:p>
        </p:txBody>
      </p:sp>
      <p:sp>
        <p:nvSpPr>
          <p:cNvPr id="14" name="Text 12"/>
          <p:cNvSpPr/>
          <p:nvPr/>
        </p:nvSpPr>
        <p:spPr>
          <a:xfrm>
            <a:off x="3364992" y="2377440"/>
            <a:ext cx="2331720" cy="411480"/>
          </a:xfrm>
          <a:prstGeom prst="rect">
            <a:avLst/>
          </a:prstGeom>
          <a:noFill/>
          <a:ln/>
        </p:spPr>
        <p:txBody>
          <a:bodyPr wrap="square" rtlCol="0" anchor="ctr"/>
          <a:lstStyle/>
          <a:p>
            <a:pPr marL="0" indent="0" algn="ctr">
              <a:buNone/>
            </a:pPr>
            <a:r>
              <a:rPr lang="en-US" sz="1300" b="1" dirty="0">
                <a:solidFill>
                  <a:srgbClr val="334155"/>
                </a:solidFill>
                <a:latin typeface="Calibri" pitchFamily="34" charset="0"/>
                <a:ea typeface="Calibri" pitchFamily="34" charset="-122"/>
                <a:cs typeface="Calibri" pitchFamily="34" charset="-120"/>
              </a:rPr>
              <a:t>Language barrier</a:t>
            </a:r>
            <a:endParaRPr lang="en-US" sz="1300" dirty="0"/>
          </a:p>
        </p:txBody>
      </p:sp>
      <p:sp>
        <p:nvSpPr>
          <p:cNvPr id="15" name="Text 13"/>
          <p:cNvSpPr/>
          <p:nvPr/>
        </p:nvSpPr>
        <p:spPr>
          <a:xfrm>
            <a:off x="3364992" y="2788920"/>
            <a:ext cx="2331720" cy="1005840"/>
          </a:xfrm>
          <a:prstGeom prst="rect">
            <a:avLst/>
          </a:prstGeom>
          <a:noFill/>
          <a:ln/>
        </p:spPr>
        <p:txBody>
          <a:bodyPr wrap="square" rtlCol="0" anchor="t"/>
          <a:lstStyle/>
          <a:p>
            <a:pPr marL="0" indent="0" algn="ctr">
              <a:buNone/>
            </a:pPr>
            <a:r>
              <a:rPr lang="en-US" sz="1100" dirty="0">
                <a:solidFill>
                  <a:srgbClr val="94A3B8"/>
                </a:solidFill>
              </a:rPr>
              <a:t>International students unfamiliar with German struggle to navigate official pages</a:t>
            </a:r>
            <a:endParaRPr lang="en-US" sz="1100" dirty="0"/>
          </a:p>
        </p:txBody>
      </p:sp>
      <p:sp>
        <p:nvSpPr>
          <p:cNvPr id="16" name="Shape 14"/>
          <p:cNvSpPr/>
          <p:nvPr/>
        </p:nvSpPr>
        <p:spPr>
          <a:xfrm>
            <a:off x="6035040" y="1417320"/>
            <a:ext cx="2651760" cy="2560320"/>
          </a:xfrm>
          <a:prstGeom prst="rect">
            <a:avLst/>
          </a:prstGeom>
          <a:solidFill>
            <a:srgbClr val="FFFFFF"/>
          </a:solidFill>
          <a:ln w="6350">
            <a:solidFill>
              <a:srgbClr val="DDE3EA"/>
            </a:solidFill>
            <a:prstDash val="solid"/>
          </a:ln>
          <a:effectLst>
            <a:outerShdw blurRad="101600" dist="38100" dir="8100000" algn="bl" rotWithShape="0">
              <a:srgbClr val="000000">
                <a:alpha val="12000"/>
              </a:srgbClr>
            </a:outerShdw>
          </a:effectLst>
        </p:spPr>
        <p:txBody>
          <a:bodyPr/>
          <a:lstStyle/>
          <a:p>
            <a:endParaRPr lang="en-US"/>
          </a:p>
        </p:txBody>
      </p:sp>
      <p:sp>
        <p:nvSpPr>
          <p:cNvPr id="17" name="Shape 15"/>
          <p:cNvSpPr/>
          <p:nvPr/>
        </p:nvSpPr>
        <p:spPr>
          <a:xfrm>
            <a:off x="6995160" y="1581912"/>
            <a:ext cx="658368" cy="658368"/>
          </a:xfrm>
          <a:prstGeom prst="ellipse">
            <a:avLst/>
          </a:prstGeom>
          <a:solidFill>
            <a:srgbClr val="EBF5FF"/>
          </a:solidFill>
          <a:ln w="12700">
            <a:solidFill>
              <a:srgbClr val="76A9FA"/>
            </a:solidFill>
            <a:prstDash val="solid"/>
          </a:ln>
        </p:spPr>
        <p:txBody>
          <a:bodyPr/>
          <a:lstStyle/>
          <a:p>
            <a:endParaRPr lang="en-US"/>
          </a:p>
        </p:txBody>
      </p:sp>
      <p:sp>
        <p:nvSpPr>
          <p:cNvPr id="18" name="Text 16"/>
          <p:cNvSpPr/>
          <p:nvPr/>
        </p:nvSpPr>
        <p:spPr>
          <a:xfrm>
            <a:off x="6995160" y="1581912"/>
            <a:ext cx="658368" cy="658368"/>
          </a:xfrm>
          <a:prstGeom prst="rect">
            <a:avLst/>
          </a:prstGeom>
          <a:noFill/>
          <a:ln/>
        </p:spPr>
        <p:txBody>
          <a:bodyPr wrap="square" lIns="0" tIns="0" rIns="0" bIns="0" rtlCol="0" anchor="ctr"/>
          <a:lstStyle/>
          <a:p>
            <a:pPr marL="0" indent="0" algn="ctr">
              <a:buNone/>
            </a:pPr>
            <a:r>
              <a:rPr lang="en-US" sz="1800" b="1" dirty="0">
                <a:solidFill>
                  <a:srgbClr val="1A56DB"/>
                </a:solidFill>
              </a:rPr>
              <a:t>✗</a:t>
            </a:r>
            <a:endParaRPr lang="en-US" sz="1800" dirty="0"/>
          </a:p>
        </p:txBody>
      </p:sp>
      <p:sp>
        <p:nvSpPr>
          <p:cNvPr id="19" name="Text 17"/>
          <p:cNvSpPr/>
          <p:nvPr/>
        </p:nvSpPr>
        <p:spPr>
          <a:xfrm>
            <a:off x="6199632" y="2377440"/>
            <a:ext cx="2331720" cy="411480"/>
          </a:xfrm>
          <a:prstGeom prst="rect">
            <a:avLst/>
          </a:prstGeom>
          <a:noFill/>
          <a:ln/>
        </p:spPr>
        <p:txBody>
          <a:bodyPr wrap="square" rtlCol="0" anchor="ctr"/>
          <a:lstStyle/>
          <a:p>
            <a:pPr marL="0" indent="0" algn="ctr">
              <a:buNone/>
            </a:pPr>
            <a:r>
              <a:rPr lang="en-US" sz="1300" b="1" dirty="0">
                <a:solidFill>
                  <a:srgbClr val="334155"/>
                </a:solidFill>
                <a:latin typeface="Calibri" pitchFamily="34" charset="0"/>
                <a:ea typeface="Calibri" pitchFamily="34" charset="-122"/>
                <a:cs typeface="Calibri" pitchFamily="34" charset="-120"/>
              </a:rPr>
              <a:t>No conversational interface</a:t>
            </a:r>
            <a:endParaRPr lang="en-US" sz="1300" dirty="0"/>
          </a:p>
        </p:txBody>
      </p:sp>
      <p:sp>
        <p:nvSpPr>
          <p:cNvPr id="20" name="Text 18"/>
          <p:cNvSpPr/>
          <p:nvPr/>
        </p:nvSpPr>
        <p:spPr>
          <a:xfrm>
            <a:off x="6199632" y="2788920"/>
            <a:ext cx="2331720" cy="1005840"/>
          </a:xfrm>
          <a:prstGeom prst="rect">
            <a:avLst/>
          </a:prstGeom>
          <a:noFill/>
          <a:ln/>
        </p:spPr>
        <p:txBody>
          <a:bodyPr wrap="square" rtlCol="0" anchor="t"/>
          <a:lstStyle/>
          <a:p>
            <a:pPr marL="0" indent="0" algn="ctr">
              <a:buNone/>
            </a:pPr>
            <a:r>
              <a:rPr lang="en-US" sz="1100" dirty="0">
                <a:solidFill>
                  <a:srgbClr val="94A3B8"/>
                </a:solidFill>
              </a:rPr>
              <a:t>Existing search requires users to already know the right keywords and where to look</a:t>
            </a:r>
            <a:endParaRPr lang="en-US" sz="1100" dirty="0"/>
          </a:p>
        </p:txBody>
      </p:sp>
      <p:sp>
        <p:nvSpPr>
          <p:cNvPr id="21" name="Shape 19"/>
          <p:cNvSpPr/>
          <p:nvPr/>
        </p:nvSpPr>
        <p:spPr>
          <a:xfrm>
            <a:off x="365760" y="4160520"/>
            <a:ext cx="8412480" cy="685800"/>
          </a:xfrm>
          <a:prstGeom prst="rect">
            <a:avLst/>
          </a:prstGeom>
          <a:solidFill>
            <a:srgbClr val="EFF6FF"/>
          </a:solidFill>
          <a:ln w="6350">
            <a:solidFill>
              <a:srgbClr val="76A9FA"/>
            </a:solidFill>
            <a:prstDash val="solid"/>
          </a:ln>
          <a:effectLst>
            <a:outerShdw blurRad="101600" dist="38100" dir="8100000" algn="bl" rotWithShape="0">
              <a:srgbClr val="000000">
                <a:alpha val="12000"/>
              </a:srgbClr>
            </a:outerShdw>
          </a:effectLst>
        </p:spPr>
        <p:txBody>
          <a:bodyPr/>
          <a:lstStyle/>
          <a:p>
            <a:endParaRPr lang="en-US"/>
          </a:p>
        </p:txBody>
      </p:sp>
      <p:sp>
        <p:nvSpPr>
          <p:cNvPr id="22" name="Text 20"/>
          <p:cNvSpPr/>
          <p:nvPr/>
        </p:nvSpPr>
        <p:spPr>
          <a:xfrm>
            <a:off x="548640" y="4224528"/>
            <a:ext cx="8046720" cy="548640"/>
          </a:xfrm>
          <a:prstGeom prst="rect">
            <a:avLst/>
          </a:prstGeom>
          <a:noFill/>
          <a:ln/>
        </p:spPr>
        <p:txBody>
          <a:bodyPr wrap="square" rtlCol="0" anchor="ctr"/>
          <a:lstStyle/>
          <a:p>
            <a:pPr marL="0" indent="0" algn="ctr">
              <a:buNone/>
            </a:pPr>
            <a:r>
              <a:rPr lang="en-US" sz="1300" b="1" dirty="0">
                <a:solidFill>
                  <a:srgbClr val="1A56DB"/>
                </a:solidFill>
              </a:rPr>
              <a:t>AskHAW solves this with a single bilingual chat interface grounded in real HAW content</a:t>
            </a:r>
            <a:endParaRPr lang="en-US" sz="1300" dirty="0"/>
          </a:p>
        </p:txBody>
      </p:sp>
    </p:spTree>
    <p:extLst>
      <p:ext uri="{BB962C8B-B14F-4D97-AF65-F5344CB8AC3E}">
        <p14:creationId xmlns:p14="http://schemas.microsoft.com/office/powerpoint/2010/main" val="35788370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228600"/>
            <a:ext cx="1371600" cy="256032"/>
          </a:xfrm>
          <a:prstGeom prst="roundRect">
            <a:avLst>
              <a:gd name="adj" fmla="val 21429"/>
            </a:avLst>
          </a:prstGeom>
          <a:solidFill>
            <a:srgbClr val="1A56DB"/>
          </a:solidFill>
          <a:ln/>
        </p:spPr>
        <p:txBody>
          <a:bodyPr/>
          <a:lstStyle/>
          <a:p>
            <a:endParaRPr lang="en-US"/>
          </a:p>
        </p:txBody>
      </p:sp>
      <p:sp>
        <p:nvSpPr>
          <p:cNvPr id="3" name="Text 1"/>
          <p:cNvSpPr/>
          <p:nvPr/>
        </p:nvSpPr>
        <p:spPr>
          <a:xfrm>
            <a:off x="365760" y="228600"/>
            <a:ext cx="1371600" cy="256032"/>
          </a:xfrm>
          <a:prstGeom prst="rect">
            <a:avLst/>
          </a:prstGeom>
          <a:noFill/>
          <a:ln/>
        </p:spPr>
        <p:txBody>
          <a:bodyPr wrap="square" lIns="0" tIns="0" rIns="0" bIns="0" rtlCol="0" anchor="ctr"/>
          <a:lstStyle/>
          <a:p>
            <a:pPr marL="0" indent="0" algn="ctr">
              <a:buNone/>
            </a:pPr>
            <a:r>
              <a:rPr lang="en-US" sz="800" b="1" dirty="0">
                <a:solidFill>
                  <a:srgbClr val="FFFFFF"/>
                </a:solidFill>
              </a:rPr>
              <a:t>OVERVIEW</a:t>
            </a:r>
            <a:endParaRPr lang="en-US" sz="800" dirty="0"/>
          </a:p>
        </p:txBody>
      </p:sp>
      <p:sp>
        <p:nvSpPr>
          <p:cNvPr id="4" name="Text 2"/>
          <p:cNvSpPr/>
          <p:nvPr/>
        </p:nvSpPr>
        <p:spPr>
          <a:xfrm>
            <a:off x="8321040" y="4846320"/>
            <a:ext cx="731520" cy="182880"/>
          </a:xfrm>
          <a:prstGeom prst="rect">
            <a:avLst/>
          </a:prstGeom>
          <a:noFill/>
          <a:ln/>
        </p:spPr>
        <p:txBody>
          <a:bodyPr wrap="square" rtlCol="0" anchor="ctr"/>
          <a:lstStyle/>
          <a:p>
            <a:pPr marL="0" indent="0" algn="r">
              <a:buNone/>
            </a:pPr>
            <a:r>
              <a:rPr lang="en-US" sz="900" dirty="0">
                <a:solidFill>
                  <a:srgbClr val="94A3B8"/>
                </a:solidFill>
              </a:rPr>
              <a:t>3 / 10</a:t>
            </a:r>
            <a:endParaRPr lang="en-US" sz="900" dirty="0"/>
          </a:p>
        </p:txBody>
      </p:sp>
      <p:sp>
        <p:nvSpPr>
          <p:cNvPr id="5" name="Text 3"/>
          <p:cNvSpPr/>
          <p:nvPr/>
        </p:nvSpPr>
        <p:spPr>
          <a:xfrm>
            <a:off x="365760" y="594360"/>
            <a:ext cx="8412480" cy="502920"/>
          </a:xfrm>
          <a:prstGeom prst="rect">
            <a:avLst/>
          </a:prstGeom>
          <a:noFill/>
          <a:ln/>
        </p:spPr>
        <p:txBody>
          <a:bodyPr wrap="square" rtlCol="0" anchor="ctr"/>
          <a:lstStyle/>
          <a:p>
            <a:pPr marL="0" indent="0">
              <a:buNone/>
            </a:pPr>
            <a:r>
              <a:rPr lang="en-US" sz="3000" b="1" dirty="0">
                <a:solidFill>
                  <a:srgbClr val="334155"/>
                </a:solidFill>
                <a:latin typeface="Calibri" pitchFamily="34" charset="0"/>
                <a:ea typeface="Calibri" pitchFamily="34" charset="-122"/>
                <a:cs typeface="Calibri" pitchFamily="34" charset="-120"/>
              </a:rPr>
              <a:t>What AskHAW does</a:t>
            </a:r>
            <a:endParaRPr lang="en-US" sz="3000" dirty="0"/>
          </a:p>
        </p:txBody>
      </p:sp>
      <p:sp>
        <p:nvSpPr>
          <p:cNvPr id="6" name="Text 4"/>
          <p:cNvSpPr/>
          <p:nvPr/>
        </p:nvSpPr>
        <p:spPr>
          <a:xfrm>
            <a:off x="365760" y="1234440"/>
            <a:ext cx="4114800" cy="2286000"/>
          </a:xfrm>
          <a:prstGeom prst="rect">
            <a:avLst/>
          </a:prstGeom>
          <a:noFill/>
          <a:ln/>
        </p:spPr>
        <p:txBody>
          <a:bodyPr wrap="square" rtlCol="0" anchor="t"/>
          <a:lstStyle/>
          <a:p>
            <a:pPr marL="0" indent="0">
              <a:buNone/>
            </a:pPr>
            <a:r>
              <a:rPr lang="en-US" sz="1400" b="1" dirty="0">
                <a:solidFill>
                  <a:srgbClr val="334155"/>
                </a:solidFill>
              </a:rPr>
              <a:t>AskHAW is a bilingual AI chatbot</a:t>
            </a:r>
            <a:endParaRPr lang="en-US" sz="1400" dirty="0"/>
          </a:p>
          <a:p>
            <a:pPr marL="0" indent="0">
              <a:buNone/>
            </a:pPr>
            <a:r>
              <a:rPr lang="en-US" sz="1400" dirty="0">
                <a:solidFill>
                  <a:srgbClr val="334155"/>
                </a:solidFill>
              </a:rPr>
              <a:t>that answers questions about HAW Hamburg's online services.</a:t>
            </a:r>
            <a:endParaRPr lang="en-US" sz="1400" dirty="0"/>
          </a:p>
          <a:p>
            <a:pPr marL="0" indent="0">
              <a:buNone/>
            </a:pPr>
            <a:r>
              <a:rPr lang="en-US" sz="1400" dirty="0">
                <a:solidFill>
                  <a:srgbClr val="334155"/>
                </a:solidFill>
              </a:rPr>
              <a:t> </a:t>
            </a:r>
            <a:endParaRPr lang="en-US" sz="1400" dirty="0"/>
          </a:p>
          <a:p>
            <a:pPr marL="0" indent="0">
              <a:buNone/>
            </a:pPr>
            <a:r>
              <a:rPr lang="en-US" sz="1400" b="1" dirty="0">
                <a:solidFill>
                  <a:srgbClr val="334155"/>
                </a:solidFill>
              </a:rPr>
              <a:t>It uses RAG (Retrieval-Augmented Generation)</a:t>
            </a:r>
            <a:endParaRPr lang="en-US" sz="1400" dirty="0"/>
          </a:p>
          <a:p>
            <a:pPr marL="0" indent="0">
              <a:buNone/>
            </a:pPr>
            <a:r>
              <a:rPr lang="en-US" sz="1400" dirty="0">
                <a:solidFill>
                  <a:srgbClr val="334155"/>
                </a:solidFill>
              </a:rPr>
              <a:t>to retrieve content from official HAW websites before answering — so it never invents information.</a:t>
            </a:r>
            <a:endParaRPr lang="en-US" sz="1400" dirty="0"/>
          </a:p>
        </p:txBody>
      </p:sp>
      <p:sp>
        <p:nvSpPr>
          <p:cNvPr id="7" name="Shape 5"/>
          <p:cNvSpPr/>
          <p:nvPr/>
        </p:nvSpPr>
        <p:spPr>
          <a:xfrm>
            <a:off x="4754880" y="1188720"/>
            <a:ext cx="2011680" cy="1234440"/>
          </a:xfrm>
          <a:prstGeom prst="rect">
            <a:avLst/>
          </a:prstGeom>
          <a:solidFill>
            <a:srgbClr val="FFFFFF"/>
          </a:solidFill>
          <a:ln w="6350">
            <a:solidFill>
              <a:srgbClr val="DDE3EA"/>
            </a:solidFill>
            <a:prstDash val="solid"/>
          </a:ln>
          <a:effectLst>
            <a:outerShdw blurRad="101600" dist="38100" dir="8100000" algn="bl" rotWithShape="0">
              <a:srgbClr val="000000">
                <a:alpha val="12000"/>
              </a:srgbClr>
            </a:outerShdw>
          </a:effectLst>
        </p:spPr>
        <p:txBody>
          <a:bodyPr/>
          <a:lstStyle/>
          <a:p>
            <a:endParaRPr lang="en-US"/>
          </a:p>
        </p:txBody>
      </p:sp>
      <p:sp>
        <p:nvSpPr>
          <p:cNvPr id="8" name="Shape 6"/>
          <p:cNvSpPr/>
          <p:nvPr/>
        </p:nvSpPr>
        <p:spPr>
          <a:xfrm>
            <a:off x="4754880" y="1188720"/>
            <a:ext cx="54864" cy="1234440"/>
          </a:xfrm>
          <a:prstGeom prst="rect">
            <a:avLst/>
          </a:prstGeom>
          <a:solidFill>
            <a:srgbClr val="1A56DB"/>
          </a:solidFill>
          <a:ln/>
        </p:spPr>
        <p:txBody>
          <a:bodyPr/>
          <a:lstStyle/>
          <a:p>
            <a:endParaRPr lang="en-US"/>
          </a:p>
        </p:txBody>
      </p:sp>
      <p:sp>
        <p:nvSpPr>
          <p:cNvPr id="9" name="Text 7"/>
          <p:cNvSpPr/>
          <p:nvPr/>
        </p:nvSpPr>
        <p:spPr>
          <a:xfrm>
            <a:off x="4919472" y="1325880"/>
            <a:ext cx="1737360" cy="320040"/>
          </a:xfrm>
          <a:prstGeom prst="rect">
            <a:avLst/>
          </a:prstGeom>
          <a:noFill/>
          <a:ln/>
        </p:spPr>
        <p:txBody>
          <a:bodyPr wrap="square" rtlCol="0" anchor="ctr"/>
          <a:lstStyle/>
          <a:p>
            <a:pPr marL="0" indent="0">
              <a:buNone/>
            </a:pPr>
            <a:r>
              <a:rPr lang="en-US" sz="1200" b="1" dirty="0">
                <a:solidFill>
                  <a:srgbClr val="334155"/>
                </a:solidFill>
              </a:rPr>
              <a:t>Bilingual</a:t>
            </a:r>
            <a:endParaRPr lang="en-US" sz="1200" dirty="0"/>
          </a:p>
        </p:txBody>
      </p:sp>
      <p:sp>
        <p:nvSpPr>
          <p:cNvPr id="10" name="Text 8"/>
          <p:cNvSpPr/>
          <p:nvPr/>
        </p:nvSpPr>
        <p:spPr>
          <a:xfrm>
            <a:off x="4919472" y="1645920"/>
            <a:ext cx="1737360" cy="640080"/>
          </a:xfrm>
          <a:prstGeom prst="rect">
            <a:avLst/>
          </a:prstGeom>
          <a:noFill/>
          <a:ln/>
        </p:spPr>
        <p:txBody>
          <a:bodyPr wrap="square" rtlCol="0" anchor="t"/>
          <a:lstStyle/>
          <a:p>
            <a:pPr marL="0" indent="0">
              <a:buNone/>
            </a:pPr>
            <a:r>
              <a:rPr lang="en-US" sz="1000" dirty="0">
                <a:solidFill>
                  <a:srgbClr val="94A3B8"/>
                </a:solidFill>
              </a:rPr>
              <a:t>Auto-detects English or German — no setting needed</a:t>
            </a:r>
            <a:endParaRPr lang="en-US" sz="1000" dirty="0"/>
          </a:p>
        </p:txBody>
      </p:sp>
      <p:sp>
        <p:nvSpPr>
          <p:cNvPr id="11" name="Shape 9"/>
          <p:cNvSpPr/>
          <p:nvPr/>
        </p:nvSpPr>
        <p:spPr>
          <a:xfrm>
            <a:off x="6903720" y="1188720"/>
            <a:ext cx="2011680" cy="1234440"/>
          </a:xfrm>
          <a:prstGeom prst="rect">
            <a:avLst/>
          </a:prstGeom>
          <a:solidFill>
            <a:srgbClr val="FFFFFF"/>
          </a:solidFill>
          <a:ln w="6350">
            <a:solidFill>
              <a:srgbClr val="DDE3EA"/>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10"/>
          <p:cNvSpPr/>
          <p:nvPr/>
        </p:nvSpPr>
        <p:spPr>
          <a:xfrm>
            <a:off x="6903720" y="1188720"/>
            <a:ext cx="54864" cy="1234440"/>
          </a:xfrm>
          <a:prstGeom prst="rect">
            <a:avLst/>
          </a:prstGeom>
          <a:solidFill>
            <a:srgbClr val="059669"/>
          </a:solidFill>
          <a:ln/>
        </p:spPr>
        <p:txBody>
          <a:bodyPr/>
          <a:lstStyle/>
          <a:p>
            <a:endParaRPr lang="en-US"/>
          </a:p>
        </p:txBody>
      </p:sp>
      <p:sp>
        <p:nvSpPr>
          <p:cNvPr id="13" name="Text 11"/>
          <p:cNvSpPr/>
          <p:nvPr/>
        </p:nvSpPr>
        <p:spPr>
          <a:xfrm>
            <a:off x="7068312" y="1325880"/>
            <a:ext cx="1737360" cy="320040"/>
          </a:xfrm>
          <a:prstGeom prst="rect">
            <a:avLst/>
          </a:prstGeom>
          <a:noFill/>
          <a:ln/>
        </p:spPr>
        <p:txBody>
          <a:bodyPr wrap="square" rtlCol="0" anchor="ctr"/>
          <a:lstStyle/>
          <a:p>
            <a:pPr marL="0" indent="0">
              <a:buNone/>
            </a:pPr>
            <a:r>
              <a:rPr lang="en-US" sz="1200" b="1" dirty="0">
                <a:solidFill>
                  <a:srgbClr val="334155"/>
                </a:solidFill>
              </a:rPr>
              <a:t>Grounded answers</a:t>
            </a:r>
            <a:endParaRPr lang="en-US" sz="1200" dirty="0"/>
          </a:p>
        </p:txBody>
      </p:sp>
      <p:sp>
        <p:nvSpPr>
          <p:cNvPr id="14" name="Text 12"/>
          <p:cNvSpPr/>
          <p:nvPr/>
        </p:nvSpPr>
        <p:spPr>
          <a:xfrm>
            <a:off x="7068312" y="1645920"/>
            <a:ext cx="1737360" cy="640080"/>
          </a:xfrm>
          <a:prstGeom prst="rect">
            <a:avLst/>
          </a:prstGeom>
          <a:noFill/>
          <a:ln/>
        </p:spPr>
        <p:txBody>
          <a:bodyPr wrap="square" rtlCol="0" anchor="t"/>
          <a:lstStyle/>
          <a:p>
            <a:pPr marL="0" indent="0">
              <a:buNone/>
            </a:pPr>
            <a:r>
              <a:rPr lang="en-US" sz="1000" dirty="0">
                <a:solidFill>
                  <a:srgbClr val="94A3B8"/>
                </a:solidFill>
              </a:rPr>
              <a:t>Retrieves from real HAW content only</a:t>
            </a:r>
            <a:endParaRPr lang="en-US" sz="1000" dirty="0"/>
          </a:p>
        </p:txBody>
      </p:sp>
      <p:sp>
        <p:nvSpPr>
          <p:cNvPr id="15" name="Shape 13"/>
          <p:cNvSpPr/>
          <p:nvPr/>
        </p:nvSpPr>
        <p:spPr>
          <a:xfrm>
            <a:off x="4754880" y="2606040"/>
            <a:ext cx="2011680" cy="1234440"/>
          </a:xfrm>
          <a:prstGeom prst="rect">
            <a:avLst/>
          </a:prstGeom>
          <a:solidFill>
            <a:srgbClr val="FFFFFF"/>
          </a:solidFill>
          <a:ln w="6350">
            <a:solidFill>
              <a:srgbClr val="DDE3EA"/>
            </a:solidFill>
            <a:prstDash val="solid"/>
          </a:ln>
          <a:effectLst>
            <a:outerShdw blurRad="101600" dist="38100" dir="8100000" algn="bl" rotWithShape="0">
              <a:srgbClr val="000000">
                <a:alpha val="12000"/>
              </a:srgbClr>
            </a:outerShdw>
          </a:effectLst>
        </p:spPr>
        <p:txBody>
          <a:bodyPr/>
          <a:lstStyle/>
          <a:p>
            <a:endParaRPr lang="en-US"/>
          </a:p>
        </p:txBody>
      </p:sp>
      <p:sp>
        <p:nvSpPr>
          <p:cNvPr id="16" name="Shape 14"/>
          <p:cNvSpPr/>
          <p:nvPr/>
        </p:nvSpPr>
        <p:spPr>
          <a:xfrm>
            <a:off x="4754880" y="2606040"/>
            <a:ext cx="54864" cy="1234440"/>
          </a:xfrm>
          <a:prstGeom prst="rect">
            <a:avLst/>
          </a:prstGeom>
          <a:solidFill>
            <a:srgbClr val="DC2626"/>
          </a:solidFill>
          <a:ln/>
        </p:spPr>
        <p:txBody>
          <a:bodyPr/>
          <a:lstStyle/>
          <a:p>
            <a:endParaRPr lang="en-US"/>
          </a:p>
        </p:txBody>
      </p:sp>
      <p:sp>
        <p:nvSpPr>
          <p:cNvPr id="17" name="Text 15"/>
          <p:cNvSpPr/>
          <p:nvPr/>
        </p:nvSpPr>
        <p:spPr>
          <a:xfrm>
            <a:off x="4919472" y="2743200"/>
            <a:ext cx="1737360" cy="320040"/>
          </a:xfrm>
          <a:prstGeom prst="rect">
            <a:avLst/>
          </a:prstGeom>
          <a:noFill/>
          <a:ln/>
        </p:spPr>
        <p:txBody>
          <a:bodyPr wrap="square" rtlCol="0" anchor="ctr"/>
          <a:lstStyle/>
          <a:p>
            <a:pPr marL="0" indent="0">
              <a:buNone/>
            </a:pPr>
            <a:r>
              <a:rPr lang="en-US" sz="1200" b="1" dirty="0">
                <a:solidFill>
                  <a:srgbClr val="334155"/>
                </a:solidFill>
              </a:rPr>
              <a:t>Hallucination-safe</a:t>
            </a:r>
            <a:endParaRPr lang="en-US" sz="1200" dirty="0"/>
          </a:p>
        </p:txBody>
      </p:sp>
      <p:sp>
        <p:nvSpPr>
          <p:cNvPr id="18" name="Text 16"/>
          <p:cNvSpPr/>
          <p:nvPr/>
        </p:nvSpPr>
        <p:spPr>
          <a:xfrm>
            <a:off x="4919472" y="3063240"/>
            <a:ext cx="1737360" cy="640080"/>
          </a:xfrm>
          <a:prstGeom prst="rect">
            <a:avLst/>
          </a:prstGeom>
          <a:noFill/>
          <a:ln/>
        </p:spPr>
        <p:txBody>
          <a:bodyPr wrap="square" rtlCol="0" anchor="t"/>
          <a:lstStyle/>
          <a:p>
            <a:pPr marL="0" indent="0">
              <a:buNone/>
            </a:pPr>
            <a:r>
              <a:rPr lang="en-US" sz="1000" dirty="0">
                <a:solidFill>
                  <a:srgbClr val="94A3B8"/>
                </a:solidFill>
              </a:rPr>
              <a:t>Refuses to answer when no relevant content found</a:t>
            </a:r>
            <a:endParaRPr lang="en-US" sz="1000" dirty="0"/>
          </a:p>
        </p:txBody>
      </p:sp>
      <p:sp>
        <p:nvSpPr>
          <p:cNvPr id="19" name="Shape 17"/>
          <p:cNvSpPr/>
          <p:nvPr/>
        </p:nvSpPr>
        <p:spPr>
          <a:xfrm>
            <a:off x="6903720" y="2606040"/>
            <a:ext cx="2011680" cy="1234440"/>
          </a:xfrm>
          <a:prstGeom prst="rect">
            <a:avLst/>
          </a:prstGeom>
          <a:solidFill>
            <a:srgbClr val="FFFFFF"/>
          </a:solidFill>
          <a:ln w="6350">
            <a:solidFill>
              <a:srgbClr val="DDE3EA"/>
            </a:solidFill>
            <a:prstDash val="solid"/>
          </a:ln>
          <a:effectLst>
            <a:outerShdw blurRad="101600" dist="38100" dir="8100000" algn="bl" rotWithShape="0">
              <a:srgbClr val="000000">
                <a:alpha val="12000"/>
              </a:srgbClr>
            </a:outerShdw>
          </a:effectLst>
        </p:spPr>
        <p:txBody>
          <a:bodyPr/>
          <a:lstStyle/>
          <a:p>
            <a:endParaRPr lang="en-US"/>
          </a:p>
        </p:txBody>
      </p:sp>
      <p:sp>
        <p:nvSpPr>
          <p:cNvPr id="20" name="Shape 18"/>
          <p:cNvSpPr/>
          <p:nvPr/>
        </p:nvSpPr>
        <p:spPr>
          <a:xfrm>
            <a:off x="6903720" y="2606040"/>
            <a:ext cx="54864" cy="1234440"/>
          </a:xfrm>
          <a:prstGeom prst="rect">
            <a:avLst/>
          </a:prstGeom>
          <a:solidFill>
            <a:srgbClr val="D97706"/>
          </a:solidFill>
          <a:ln/>
        </p:spPr>
        <p:txBody>
          <a:bodyPr/>
          <a:lstStyle/>
          <a:p>
            <a:endParaRPr lang="en-US"/>
          </a:p>
        </p:txBody>
      </p:sp>
      <p:sp>
        <p:nvSpPr>
          <p:cNvPr id="21" name="Text 19"/>
          <p:cNvSpPr/>
          <p:nvPr/>
        </p:nvSpPr>
        <p:spPr>
          <a:xfrm>
            <a:off x="7068312" y="2743200"/>
            <a:ext cx="1737360" cy="320040"/>
          </a:xfrm>
          <a:prstGeom prst="rect">
            <a:avLst/>
          </a:prstGeom>
          <a:noFill/>
          <a:ln/>
        </p:spPr>
        <p:txBody>
          <a:bodyPr wrap="square" rtlCol="0" anchor="ctr"/>
          <a:lstStyle/>
          <a:p>
            <a:pPr marL="0" indent="0">
              <a:buNone/>
            </a:pPr>
            <a:r>
              <a:rPr lang="en-US" sz="1200" b="1" dirty="0">
                <a:solidFill>
                  <a:srgbClr val="334155"/>
                </a:solidFill>
              </a:rPr>
              <a:t>Web-based UI</a:t>
            </a:r>
            <a:endParaRPr lang="en-US" sz="1200" dirty="0"/>
          </a:p>
        </p:txBody>
      </p:sp>
      <p:sp>
        <p:nvSpPr>
          <p:cNvPr id="22" name="Text 20"/>
          <p:cNvSpPr/>
          <p:nvPr/>
        </p:nvSpPr>
        <p:spPr>
          <a:xfrm>
            <a:off x="7068312" y="3063240"/>
            <a:ext cx="1737360" cy="640080"/>
          </a:xfrm>
          <a:prstGeom prst="rect">
            <a:avLst/>
          </a:prstGeom>
          <a:noFill/>
          <a:ln/>
        </p:spPr>
        <p:txBody>
          <a:bodyPr wrap="square" rtlCol="0" anchor="t"/>
          <a:lstStyle/>
          <a:p>
            <a:pPr marL="0" indent="0">
              <a:buNone/>
            </a:pPr>
            <a:r>
              <a:rPr lang="en-US" sz="1000" dirty="0">
                <a:solidFill>
                  <a:srgbClr val="94A3B8"/>
                </a:solidFill>
              </a:rPr>
              <a:t>Runs in any browser via Streamlit — no install needed</a:t>
            </a:r>
            <a:endParaRPr lang="en-US" sz="1000" dirty="0"/>
          </a:p>
        </p:txBody>
      </p:sp>
      <p:sp>
        <p:nvSpPr>
          <p:cNvPr id="23" name="Text 21"/>
          <p:cNvSpPr/>
          <p:nvPr/>
        </p:nvSpPr>
        <p:spPr>
          <a:xfrm>
            <a:off x="365760" y="4160520"/>
            <a:ext cx="1188720" cy="274320"/>
          </a:xfrm>
          <a:prstGeom prst="rect">
            <a:avLst/>
          </a:prstGeom>
          <a:noFill/>
          <a:ln/>
        </p:spPr>
        <p:txBody>
          <a:bodyPr wrap="square" rtlCol="0" anchor="ctr"/>
          <a:lstStyle/>
          <a:p>
            <a:pPr marL="0" indent="0">
              <a:buNone/>
            </a:pPr>
            <a:r>
              <a:rPr lang="en-US" sz="1100" dirty="0">
                <a:solidFill>
                  <a:srgbClr val="94A3B8"/>
                </a:solidFill>
              </a:rPr>
              <a:t>Built with:</a:t>
            </a:r>
            <a:endParaRPr lang="en-US" sz="1100" dirty="0"/>
          </a:p>
        </p:txBody>
      </p:sp>
      <p:sp>
        <p:nvSpPr>
          <p:cNvPr id="24" name="Shape 22"/>
          <p:cNvSpPr/>
          <p:nvPr/>
        </p:nvSpPr>
        <p:spPr>
          <a:xfrm>
            <a:off x="1600200" y="4160520"/>
            <a:ext cx="795528" cy="237744"/>
          </a:xfrm>
          <a:prstGeom prst="roundRect">
            <a:avLst>
              <a:gd name="adj" fmla="val 50000"/>
            </a:avLst>
          </a:prstGeom>
          <a:solidFill>
            <a:srgbClr val="334155"/>
          </a:solidFill>
          <a:ln/>
        </p:spPr>
        <p:txBody>
          <a:bodyPr/>
          <a:lstStyle/>
          <a:p>
            <a:endParaRPr lang="en-US"/>
          </a:p>
        </p:txBody>
      </p:sp>
      <p:sp>
        <p:nvSpPr>
          <p:cNvPr id="25" name="Text 23"/>
          <p:cNvSpPr/>
          <p:nvPr/>
        </p:nvSpPr>
        <p:spPr>
          <a:xfrm>
            <a:off x="1600200" y="4160520"/>
            <a:ext cx="795528" cy="237744"/>
          </a:xfrm>
          <a:prstGeom prst="rect">
            <a:avLst/>
          </a:prstGeom>
          <a:noFill/>
          <a:ln/>
        </p:spPr>
        <p:txBody>
          <a:bodyPr wrap="square" lIns="0" tIns="0" rIns="0" bIns="0" rtlCol="0" anchor="ctr"/>
          <a:lstStyle/>
          <a:p>
            <a:pPr marL="0" indent="0" algn="ctr">
              <a:buNone/>
            </a:pPr>
            <a:r>
              <a:rPr lang="en-US" sz="900" b="1" dirty="0">
                <a:solidFill>
                  <a:srgbClr val="FFFFFF"/>
                </a:solidFill>
              </a:rPr>
              <a:t>Python</a:t>
            </a:r>
            <a:endParaRPr lang="en-US" sz="900" dirty="0"/>
          </a:p>
        </p:txBody>
      </p:sp>
      <p:sp>
        <p:nvSpPr>
          <p:cNvPr id="26" name="Shape 24"/>
          <p:cNvSpPr/>
          <p:nvPr/>
        </p:nvSpPr>
        <p:spPr>
          <a:xfrm>
            <a:off x="2532888" y="4160520"/>
            <a:ext cx="1056132" cy="237744"/>
          </a:xfrm>
          <a:prstGeom prst="roundRect">
            <a:avLst>
              <a:gd name="adj" fmla="val 50000"/>
            </a:avLst>
          </a:prstGeom>
          <a:solidFill>
            <a:srgbClr val="334155"/>
          </a:solidFill>
          <a:ln/>
        </p:spPr>
        <p:txBody>
          <a:bodyPr/>
          <a:lstStyle/>
          <a:p>
            <a:endParaRPr lang="en-US"/>
          </a:p>
        </p:txBody>
      </p:sp>
      <p:sp>
        <p:nvSpPr>
          <p:cNvPr id="27" name="Text 25"/>
          <p:cNvSpPr/>
          <p:nvPr/>
        </p:nvSpPr>
        <p:spPr>
          <a:xfrm>
            <a:off x="2532888" y="4160520"/>
            <a:ext cx="1056132" cy="237744"/>
          </a:xfrm>
          <a:prstGeom prst="rect">
            <a:avLst/>
          </a:prstGeom>
          <a:noFill/>
          <a:ln/>
        </p:spPr>
        <p:txBody>
          <a:bodyPr wrap="square" lIns="0" tIns="0" rIns="0" bIns="0" rtlCol="0" anchor="ctr"/>
          <a:lstStyle/>
          <a:p>
            <a:pPr marL="0" indent="0" algn="ctr">
              <a:buNone/>
            </a:pPr>
            <a:r>
              <a:rPr lang="en-US" sz="900" b="1" dirty="0">
                <a:solidFill>
                  <a:srgbClr val="FFFFFF"/>
                </a:solidFill>
              </a:rPr>
              <a:t>Streamlit</a:t>
            </a:r>
            <a:endParaRPr lang="en-US" sz="900" dirty="0"/>
          </a:p>
        </p:txBody>
      </p:sp>
      <p:sp>
        <p:nvSpPr>
          <p:cNvPr id="28" name="Shape 26"/>
          <p:cNvSpPr/>
          <p:nvPr/>
        </p:nvSpPr>
        <p:spPr>
          <a:xfrm>
            <a:off x="3726180" y="4160520"/>
            <a:ext cx="1837944" cy="237744"/>
          </a:xfrm>
          <a:prstGeom prst="roundRect">
            <a:avLst>
              <a:gd name="adj" fmla="val 50000"/>
            </a:avLst>
          </a:prstGeom>
          <a:solidFill>
            <a:srgbClr val="334155"/>
          </a:solidFill>
          <a:ln/>
        </p:spPr>
        <p:txBody>
          <a:bodyPr/>
          <a:lstStyle/>
          <a:p>
            <a:endParaRPr lang="en-US"/>
          </a:p>
        </p:txBody>
      </p:sp>
      <p:sp>
        <p:nvSpPr>
          <p:cNvPr id="29" name="Text 27"/>
          <p:cNvSpPr/>
          <p:nvPr/>
        </p:nvSpPr>
        <p:spPr>
          <a:xfrm>
            <a:off x="3726180" y="4160520"/>
            <a:ext cx="1837944" cy="237744"/>
          </a:xfrm>
          <a:prstGeom prst="rect">
            <a:avLst/>
          </a:prstGeom>
          <a:noFill/>
          <a:ln/>
        </p:spPr>
        <p:txBody>
          <a:bodyPr wrap="square" lIns="0" tIns="0" rIns="0" bIns="0" rtlCol="0" anchor="ctr"/>
          <a:lstStyle/>
          <a:p>
            <a:pPr marL="0" indent="0" algn="ctr">
              <a:buNone/>
            </a:pPr>
            <a:r>
              <a:rPr lang="en-US" sz="900" b="1" dirty="0">
                <a:solidFill>
                  <a:srgbClr val="FFFFFF"/>
                </a:solidFill>
              </a:rPr>
              <a:t>OpenAI GPT-4o-mini</a:t>
            </a:r>
            <a:endParaRPr lang="en-US" sz="900" dirty="0"/>
          </a:p>
        </p:txBody>
      </p:sp>
      <p:sp>
        <p:nvSpPr>
          <p:cNvPr id="30" name="Shape 28"/>
          <p:cNvSpPr/>
          <p:nvPr/>
        </p:nvSpPr>
        <p:spPr>
          <a:xfrm>
            <a:off x="5701284" y="4160520"/>
            <a:ext cx="708660" cy="237744"/>
          </a:xfrm>
          <a:prstGeom prst="roundRect">
            <a:avLst>
              <a:gd name="adj" fmla="val 50000"/>
            </a:avLst>
          </a:prstGeom>
          <a:solidFill>
            <a:srgbClr val="334155"/>
          </a:solidFill>
          <a:ln/>
        </p:spPr>
        <p:txBody>
          <a:bodyPr/>
          <a:lstStyle/>
          <a:p>
            <a:endParaRPr lang="en-US"/>
          </a:p>
        </p:txBody>
      </p:sp>
      <p:sp>
        <p:nvSpPr>
          <p:cNvPr id="31" name="Text 29"/>
          <p:cNvSpPr/>
          <p:nvPr/>
        </p:nvSpPr>
        <p:spPr>
          <a:xfrm>
            <a:off x="5701284" y="4160520"/>
            <a:ext cx="708660" cy="237744"/>
          </a:xfrm>
          <a:prstGeom prst="rect">
            <a:avLst/>
          </a:prstGeom>
          <a:noFill/>
          <a:ln/>
        </p:spPr>
        <p:txBody>
          <a:bodyPr wrap="square" lIns="0" tIns="0" rIns="0" bIns="0" rtlCol="0" anchor="ctr"/>
          <a:lstStyle/>
          <a:p>
            <a:pPr marL="0" indent="0" algn="ctr">
              <a:buNone/>
            </a:pPr>
            <a:r>
              <a:rPr lang="en-US" sz="900" b="1" dirty="0">
                <a:solidFill>
                  <a:srgbClr val="FFFFFF"/>
                </a:solidFill>
              </a:rPr>
              <a:t>FAISS</a:t>
            </a:r>
            <a:endParaRPr lang="en-US" sz="900" dirty="0"/>
          </a:p>
        </p:txBody>
      </p:sp>
      <p:sp>
        <p:nvSpPr>
          <p:cNvPr id="32" name="Shape 30"/>
          <p:cNvSpPr/>
          <p:nvPr/>
        </p:nvSpPr>
        <p:spPr>
          <a:xfrm>
            <a:off x="6547104" y="4160520"/>
            <a:ext cx="795528" cy="237744"/>
          </a:xfrm>
          <a:prstGeom prst="roundRect">
            <a:avLst>
              <a:gd name="adj" fmla="val 50000"/>
            </a:avLst>
          </a:prstGeom>
          <a:solidFill>
            <a:srgbClr val="334155"/>
          </a:solidFill>
          <a:ln/>
        </p:spPr>
        <p:txBody>
          <a:bodyPr/>
          <a:lstStyle/>
          <a:p>
            <a:endParaRPr lang="en-US"/>
          </a:p>
        </p:txBody>
      </p:sp>
      <p:sp>
        <p:nvSpPr>
          <p:cNvPr id="33" name="Text 31"/>
          <p:cNvSpPr/>
          <p:nvPr/>
        </p:nvSpPr>
        <p:spPr>
          <a:xfrm>
            <a:off x="6547104" y="4160520"/>
            <a:ext cx="795528" cy="237744"/>
          </a:xfrm>
          <a:prstGeom prst="rect">
            <a:avLst/>
          </a:prstGeom>
          <a:noFill/>
          <a:ln/>
        </p:spPr>
        <p:txBody>
          <a:bodyPr wrap="square" lIns="0" tIns="0" rIns="0" bIns="0" rtlCol="0" anchor="ctr"/>
          <a:lstStyle/>
          <a:p>
            <a:pPr marL="0" indent="0" algn="ctr">
              <a:buNone/>
            </a:pPr>
            <a:r>
              <a:rPr lang="en-US" sz="900" b="1" dirty="0">
                <a:solidFill>
                  <a:srgbClr val="FFFFFF"/>
                </a:solidFill>
              </a:rPr>
              <a:t>langid</a:t>
            </a:r>
            <a:endParaRPr lang="en-US" sz="900" dirty="0"/>
          </a:p>
        </p:txBody>
      </p:sp>
    </p:spTree>
    <p:extLst>
      <p:ext uri="{BB962C8B-B14F-4D97-AF65-F5344CB8AC3E}">
        <p14:creationId xmlns:p14="http://schemas.microsoft.com/office/powerpoint/2010/main" val="2039985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228600"/>
            <a:ext cx="1371600" cy="256032"/>
          </a:xfrm>
          <a:prstGeom prst="roundRect">
            <a:avLst>
              <a:gd name="adj" fmla="val 21429"/>
            </a:avLst>
          </a:prstGeom>
          <a:solidFill>
            <a:srgbClr val="1A56DB"/>
          </a:solidFill>
          <a:ln/>
        </p:spPr>
        <p:txBody>
          <a:bodyPr/>
          <a:lstStyle/>
          <a:p>
            <a:endParaRPr lang="en-US"/>
          </a:p>
        </p:txBody>
      </p:sp>
      <p:sp>
        <p:nvSpPr>
          <p:cNvPr id="3" name="Text 1"/>
          <p:cNvSpPr/>
          <p:nvPr/>
        </p:nvSpPr>
        <p:spPr>
          <a:xfrm>
            <a:off x="365760" y="228600"/>
            <a:ext cx="1371600" cy="256032"/>
          </a:xfrm>
          <a:prstGeom prst="rect">
            <a:avLst/>
          </a:prstGeom>
          <a:noFill/>
          <a:ln/>
        </p:spPr>
        <p:txBody>
          <a:bodyPr wrap="square" lIns="0" tIns="0" rIns="0" bIns="0" rtlCol="0" anchor="ctr"/>
          <a:lstStyle/>
          <a:p>
            <a:pPr marL="0" indent="0" algn="ctr">
              <a:buNone/>
            </a:pPr>
            <a:r>
              <a:rPr lang="en-US" sz="800" b="1" dirty="0">
                <a:solidFill>
                  <a:srgbClr val="FFFFFF"/>
                </a:solidFill>
              </a:rPr>
              <a:t>ARCHITECTURE</a:t>
            </a:r>
            <a:endParaRPr lang="en-US" sz="800" dirty="0"/>
          </a:p>
        </p:txBody>
      </p:sp>
      <p:sp>
        <p:nvSpPr>
          <p:cNvPr id="4" name="Text 2"/>
          <p:cNvSpPr/>
          <p:nvPr/>
        </p:nvSpPr>
        <p:spPr>
          <a:xfrm>
            <a:off x="8321040" y="4846320"/>
            <a:ext cx="731520" cy="182880"/>
          </a:xfrm>
          <a:prstGeom prst="rect">
            <a:avLst/>
          </a:prstGeom>
          <a:noFill/>
          <a:ln/>
        </p:spPr>
        <p:txBody>
          <a:bodyPr wrap="square" rtlCol="0" anchor="ctr"/>
          <a:lstStyle/>
          <a:p>
            <a:pPr marL="0" indent="0" algn="r">
              <a:buNone/>
            </a:pPr>
            <a:r>
              <a:rPr lang="en-US" sz="900" dirty="0">
                <a:solidFill>
                  <a:srgbClr val="94A3B8"/>
                </a:solidFill>
              </a:rPr>
              <a:t>4 / 10</a:t>
            </a:r>
            <a:endParaRPr lang="en-US" sz="900" dirty="0"/>
          </a:p>
        </p:txBody>
      </p:sp>
      <p:sp>
        <p:nvSpPr>
          <p:cNvPr id="5" name="Text 3"/>
          <p:cNvSpPr/>
          <p:nvPr/>
        </p:nvSpPr>
        <p:spPr>
          <a:xfrm>
            <a:off x="365760" y="594360"/>
            <a:ext cx="8412480" cy="502920"/>
          </a:xfrm>
          <a:prstGeom prst="rect">
            <a:avLst/>
          </a:prstGeom>
          <a:noFill/>
          <a:ln/>
        </p:spPr>
        <p:txBody>
          <a:bodyPr wrap="square" rtlCol="0" anchor="ctr"/>
          <a:lstStyle/>
          <a:p>
            <a:pPr marL="0" indent="0">
              <a:buNone/>
            </a:pPr>
            <a:r>
              <a:rPr lang="en-US" sz="3000" b="1" dirty="0">
                <a:solidFill>
                  <a:srgbClr val="334155"/>
                </a:solidFill>
                <a:latin typeface="Calibri" pitchFamily="34" charset="0"/>
                <a:ea typeface="Calibri" pitchFamily="34" charset="-122"/>
                <a:cs typeface="Calibri" pitchFamily="34" charset="-120"/>
              </a:rPr>
              <a:t>Three-stage pipeline</a:t>
            </a:r>
            <a:endParaRPr lang="en-US" sz="3000" dirty="0"/>
          </a:p>
        </p:txBody>
      </p:sp>
      <p:sp>
        <p:nvSpPr>
          <p:cNvPr id="6" name="Shape 4"/>
          <p:cNvSpPr/>
          <p:nvPr/>
        </p:nvSpPr>
        <p:spPr>
          <a:xfrm>
            <a:off x="320040" y="1280160"/>
            <a:ext cx="2697480" cy="3246120"/>
          </a:xfrm>
          <a:prstGeom prst="rect">
            <a:avLst/>
          </a:prstGeom>
          <a:solidFill>
            <a:srgbClr val="FFFFFF"/>
          </a:solidFill>
          <a:ln w="6350">
            <a:solidFill>
              <a:srgbClr val="DDE3EA"/>
            </a:solidFill>
            <a:prstDash val="solid"/>
          </a:ln>
          <a:effectLst>
            <a:outerShdw blurRad="101600" dist="38100" dir="8100000" algn="bl" rotWithShape="0">
              <a:srgbClr val="000000">
                <a:alpha val="12000"/>
              </a:srgbClr>
            </a:outerShdw>
          </a:effectLst>
        </p:spPr>
        <p:txBody>
          <a:bodyPr/>
          <a:lstStyle/>
          <a:p>
            <a:endParaRPr lang="en-US"/>
          </a:p>
        </p:txBody>
      </p:sp>
      <p:sp>
        <p:nvSpPr>
          <p:cNvPr id="7" name="Shape 5"/>
          <p:cNvSpPr/>
          <p:nvPr/>
        </p:nvSpPr>
        <p:spPr>
          <a:xfrm>
            <a:off x="320040" y="1280160"/>
            <a:ext cx="2697480" cy="502920"/>
          </a:xfrm>
          <a:prstGeom prst="rect">
            <a:avLst/>
          </a:prstGeom>
          <a:solidFill>
            <a:srgbClr val="1A56DB"/>
          </a:solidFill>
          <a:ln/>
        </p:spPr>
        <p:txBody>
          <a:bodyPr/>
          <a:lstStyle/>
          <a:p>
            <a:endParaRPr lang="en-US"/>
          </a:p>
        </p:txBody>
      </p:sp>
      <p:sp>
        <p:nvSpPr>
          <p:cNvPr id="8" name="Text 6"/>
          <p:cNvSpPr/>
          <p:nvPr/>
        </p:nvSpPr>
        <p:spPr>
          <a:xfrm>
            <a:off x="320040" y="1280160"/>
            <a:ext cx="2697480" cy="502920"/>
          </a:xfrm>
          <a:prstGeom prst="rect">
            <a:avLst/>
          </a:prstGeom>
          <a:noFill/>
          <a:ln/>
        </p:spPr>
        <p:txBody>
          <a:bodyPr wrap="square" lIns="0" tIns="0" rIns="0" bIns="0" rtlCol="0" anchor="ctr"/>
          <a:lstStyle/>
          <a:p>
            <a:pPr marL="0" indent="0" algn="ctr">
              <a:buNone/>
            </a:pPr>
            <a:r>
              <a:rPr lang="en-US" sz="1200" b="1" dirty="0">
                <a:solidFill>
                  <a:srgbClr val="FFFFFF"/>
                </a:solidFill>
              </a:rPr>
              <a:t>Stage 1</a:t>
            </a:r>
            <a:endParaRPr lang="en-US" sz="1200" dirty="0"/>
          </a:p>
        </p:txBody>
      </p:sp>
      <p:sp>
        <p:nvSpPr>
          <p:cNvPr id="9" name="Text 7"/>
          <p:cNvSpPr/>
          <p:nvPr/>
        </p:nvSpPr>
        <p:spPr>
          <a:xfrm>
            <a:off x="429768" y="1847088"/>
            <a:ext cx="2468880" cy="274320"/>
          </a:xfrm>
          <a:prstGeom prst="rect">
            <a:avLst/>
          </a:prstGeom>
          <a:noFill/>
          <a:ln/>
        </p:spPr>
        <p:txBody>
          <a:bodyPr wrap="square" rtlCol="0" anchor="ctr"/>
          <a:lstStyle/>
          <a:p>
            <a:pPr marL="0" indent="0">
              <a:buNone/>
            </a:pPr>
            <a:r>
              <a:rPr lang="en-US" sz="1200" b="1" dirty="0">
                <a:solidFill>
                  <a:srgbClr val="334155"/>
                </a:solidFill>
                <a:latin typeface="Calibri" pitchFamily="34" charset="0"/>
                <a:ea typeface="Calibri" pitchFamily="34" charset="-122"/>
                <a:cs typeface="Calibri" pitchFamily="34" charset="-120"/>
              </a:rPr>
              <a:t>build_kb.py</a:t>
            </a:r>
            <a:endParaRPr lang="en-US" sz="1200" dirty="0"/>
          </a:p>
        </p:txBody>
      </p:sp>
      <p:sp>
        <p:nvSpPr>
          <p:cNvPr id="10" name="Text 8"/>
          <p:cNvSpPr/>
          <p:nvPr/>
        </p:nvSpPr>
        <p:spPr>
          <a:xfrm>
            <a:off x="429768" y="2121408"/>
            <a:ext cx="2468880" cy="228600"/>
          </a:xfrm>
          <a:prstGeom prst="rect">
            <a:avLst/>
          </a:prstGeom>
          <a:noFill/>
          <a:ln/>
        </p:spPr>
        <p:txBody>
          <a:bodyPr wrap="square" rtlCol="0" anchor="ctr"/>
          <a:lstStyle/>
          <a:p>
            <a:pPr marL="0" indent="0">
              <a:buNone/>
            </a:pPr>
            <a:r>
              <a:rPr lang="en-US" sz="900" dirty="0">
                <a:solidFill>
                  <a:srgbClr val="94A3B8"/>
                </a:solidFill>
              </a:rPr>
              <a:t>Run once offline</a:t>
            </a:r>
            <a:endParaRPr lang="en-US" sz="900" dirty="0"/>
          </a:p>
        </p:txBody>
      </p:sp>
      <p:sp>
        <p:nvSpPr>
          <p:cNvPr id="11" name="Text 9"/>
          <p:cNvSpPr/>
          <p:nvPr/>
        </p:nvSpPr>
        <p:spPr>
          <a:xfrm>
            <a:off x="429768" y="2423160"/>
            <a:ext cx="2487168" cy="329184"/>
          </a:xfrm>
          <a:prstGeom prst="rect">
            <a:avLst/>
          </a:prstGeom>
          <a:noFill/>
          <a:ln/>
        </p:spPr>
        <p:txBody>
          <a:bodyPr wrap="square" rtlCol="0" anchor="ctr"/>
          <a:lstStyle/>
          <a:p>
            <a:pPr marL="342900" indent="-342900">
              <a:buSzPct val="100000"/>
              <a:buChar char="•"/>
            </a:pPr>
            <a:r>
              <a:rPr lang="en-US" sz="1000" dirty="0">
                <a:solidFill>
                  <a:srgbClr val="334155"/>
                </a:solidFill>
              </a:rPr>
              <a:t>  Read HAW URLs from Excel</a:t>
            </a:r>
            <a:endParaRPr lang="en-US" sz="1000" dirty="0"/>
          </a:p>
        </p:txBody>
      </p:sp>
      <p:sp>
        <p:nvSpPr>
          <p:cNvPr id="12" name="Text 10"/>
          <p:cNvSpPr/>
          <p:nvPr/>
        </p:nvSpPr>
        <p:spPr>
          <a:xfrm>
            <a:off x="429768" y="2770632"/>
            <a:ext cx="2487168" cy="329184"/>
          </a:xfrm>
          <a:prstGeom prst="rect">
            <a:avLst/>
          </a:prstGeom>
          <a:noFill/>
          <a:ln/>
        </p:spPr>
        <p:txBody>
          <a:bodyPr wrap="square" rtlCol="0" anchor="ctr"/>
          <a:lstStyle/>
          <a:p>
            <a:pPr marL="342900" indent="-342900">
              <a:buSzPct val="100000"/>
              <a:buChar char="•"/>
            </a:pPr>
            <a:r>
              <a:rPr lang="en-US" sz="1000" dirty="0">
                <a:solidFill>
                  <a:srgbClr val="334155"/>
                </a:solidFill>
              </a:rPr>
              <a:t>  Scrape &amp; clean page text</a:t>
            </a:r>
            <a:endParaRPr lang="en-US" sz="1000" dirty="0"/>
          </a:p>
        </p:txBody>
      </p:sp>
      <p:sp>
        <p:nvSpPr>
          <p:cNvPr id="13" name="Text 11"/>
          <p:cNvSpPr/>
          <p:nvPr/>
        </p:nvSpPr>
        <p:spPr>
          <a:xfrm>
            <a:off x="429768" y="3118104"/>
            <a:ext cx="2487168" cy="329184"/>
          </a:xfrm>
          <a:prstGeom prst="rect">
            <a:avLst/>
          </a:prstGeom>
          <a:noFill/>
          <a:ln/>
        </p:spPr>
        <p:txBody>
          <a:bodyPr wrap="square" rtlCol="0" anchor="ctr"/>
          <a:lstStyle/>
          <a:p>
            <a:pPr marL="342900" indent="-342900">
              <a:buSzPct val="100000"/>
              <a:buChar char="•"/>
            </a:pPr>
            <a:r>
              <a:rPr lang="en-US" sz="1000" dirty="0">
                <a:solidFill>
                  <a:srgbClr val="334155"/>
                </a:solidFill>
              </a:rPr>
              <a:t>  Split into 500-word chunks</a:t>
            </a:r>
            <a:endParaRPr lang="en-US" sz="1000" dirty="0"/>
          </a:p>
        </p:txBody>
      </p:sp>
      <p:sp>
        <p:nvSpPr>
          <p:cNvPr id="14" name="Text 12"/>
          <p:cNvSpPr/>
          <p:nvPr/>
        </p:nvSpPr>
        <p:spPr>
          <a:xfrm>
            <a:off x="429768" y="3465576"/>
            <a:ext cx="2487168" cy="329184"/>
          </a:xfrm>
          <a:prstGeom prst="rect">
            <a:avLst/>
          </a:prstGeom>
          <a:noFill/>
          <a:ln/>
        </p:spPr>
        <p:txBody>
          <a:bodyPr wrap="square" rtlCol="0" anchor="ctr"/>
          <a:lstStyle/>
          <a:p>
            <a:pPr marL="342900" indent="-342900">
              <a:buSzPct val="100000"/>
              <a:buChar char="•"/>
            </a:pPr>
            <a:r>
              <a:rPr lang="en-US" sz="1000" dirty="0">
                <a:solidFill>
                  <a:srgbClr val="334155"/>
                </a:solidFill>
              </a:rPr>
              <a:t>  Translate to EN + DE</a:t>
            </a:r>
            <a:endParaRPr lang="en-US" sz="1000" dirty="0"/>
          </a:p>
        </p:txBody>
      </p:sp>
      <p:sp>
        <p:nvSpPr>
          <p:cNvPr id="15" name="Text 13"/>
          <p:cNvSpPr/>
          <p:nvPr/>
        </p:nvSpPr>
        <p:spPr>
          <a:xfrm>
            <a:off x="429768" y="3813048"/>
            <a:ext cx="2487168" cy="329184"/>
          </a:xfrm>
          <a:prstGeom prst="rect">
            <a:avLst/>
          </a:prstGeom>
          <a:noFill/>
          <a:ln/>
        </p:spPr>
        <p:txBody>
          <a:bodyPr wrap="square" rtlCol="0" anchor="ctr"/>
          <a:lstStyle/>
          <a:p>
            <a:pPr marL="342900" indent="-342900">
              <a:buSzPct val="100000"/>
              <a:buChar char="•"/>
            </a:pPr>
            <a:r>
              <a:rPr lang="en-US" sz="1000" dirty="0">
                <a:solidFill>
                  <a:srgbClr val="334155"/>
                </a:solidFill>
              </a:rPr>
              <a:t>  Save 3 JSON files</a:t>
            </a:r>
            <a:endParaRPr lang="en-US" sz="1000" dirty="0"/>
          </a:p>
        </p:txBody>
      </p:sp>
      <p:sp>
        <p:nvSpPr>
          <p:cNvPr id="16" name="Shape 14"/>
          <p:cNvSpPr/>
          <p:nvPr/>
        </p:nvSpPr>
        <p:spPr>
          <a:xfrm>
            <a:off x="429768" y="4160520"/>
            <a:ext cx="2468880" cy="256032"/>
          </a:xfrm>
          <a:prstGeom prst="rect">
            <a:avLst/>
          </a:prstGeom>
          <a:solidFill>
            <a:srgbClr val="F1F5F9"/>
          </a:solidFill>
          <a:ln w="6350">
            <a:solidFill>
              <a:srgbClr val="CBD5E1"/>
            </a:solidFill>
            <a:prstDash val="solid"/>
          </a:ln>
        </p:spPr>
        <p:txBody>
          <a:bodyPr/>
          <a:lstStyle/>
          <a:p>
            <a:endParaRPr lang="en-US"/>
          </a:p>
        </p:txBody>
      </p:sp>
      <p:sp>
        <p:nvSpPr>
          <p:cNvPr id="17" name="Text 15"/>
          <p:cNvSpPr/>
          <p:nvPr/>
        </p:nvSpPr>
        <p:spPr>
          <a:xfrm>
            <a:off x="429768" y="4160520"/>
            <a:ext cx="2468880" cy="256032"/>
          </a:xfrm>
          <a:prstGeom prst="rect">
            <a:avLst/>
          </a:prstGeom>
          <a:noFill/>
          <a:ln/>
        </p:spPr>
        <p:txBody>
          <a:bodyPr wrap="square" lIns="0" tIns="0" rIns="0" bIns="0" rtlCol="0" anchor="ctr"/>
          <a:lstStyle/>
          <a:p>
            <a:pPr marL="0" indent="0" algn="ctr">
              <a:buNone/>
            </a:pPr>
            <a:r>
              <a:rPr lang="en-US" sz="800" dirty="0">
                <a:solidFill>
                  <a:srgbClr val="94A3B8"/>
                </a:solidFill>
              </a:rPr>
              <a:t>Output: haw_kb_en.json  haw_kb_de.json</a:t>
            </a:r>
            <a:endParaRPr lang="en-US" sz="800" dirty="0"/>
          </a:p>
        </p:txBody>
      </p:sp>
      <p:sp>
        <p:nvSpPr>
          <p:cNvPr id="18" name="Shape 16"/>
          <p:cNvSpPr/>
          <p:nvPr/>
        </p:nvSpPr>
        <p:spPr>
          <a:xfrm>
            <a:off x="3017520" y="2898648"/>
            <a:ext cx="164592" cy="0"/>
          </a:xfrm>
          <a:prstGeom prst="line">
            <a:avLst/>
          </a:prstGeom>
          <a:noFill/>
          <a:ln w="15240">
            <a:solidFill>
              <a:srgbClr val="94A3B8"/>
            </a:solidFill>
            <a:prstDash val="solid"/>
          </a:ln>
        </p:spPr>
        <p:txBody>
          <a:bodyPr/>
          <a:lstStyle/>
          <a:p>
            <a:endParaRPr lang="en-US"/>
          </a:p>
        </p:txBody>
      </p:sp>
      <p:sp>
        <p:nvSpPr>
          <p:cNvPr id="19" name="Text 17"/>
          <p:cNvSpPr/>
          <p:nvPr/>
        </p:nvSpPr>
        <p:spPr>
          <a:xfrm>
            <a:off x="3154680" y="2788920"/>
            <a:ext cx="182880" cy="228600"/>
          </a:xfrm>
          <a:prstGeom prst="rect">
            <a:avLst/>
          </a:prstGeom>
          <a:noFill/>
          <a:ln/>
        </p:spPr>
        <p:txBody>
          <a:bodyPr wrap="square" rtlCol="0" anchor="ctr"/>
          <a:lstStyle/>
          <a:p>
            <a:pPr marL="0" indent="0" algn="ctr">
              <a:buNone/>
            </a:pPr>
            <a:r>
              <a:rPr lang="en-US" sz="1100" dirty="0">
                <a:solidFill>
                  <a:srgbClr val="94A3B8"/>
                </a:solidFill>
              </a:rPr>
              <a:t>▶</a:t>
            </a:r>
            <a:endParaRPr lang="en-US" sz="1100" dirty="0"/>
          </a:p>
        </p:txBody>
      </p:sp>
      <p:sp>
        <p:nvSpPr>
          <p:cNvPr id="20" name="Shape 18"/>
          <p:cNvSpPr/>
          <p:nvPr/>
        </p:nvSpPr>
        <p:spPr>
          <a:xfrm>
            <a:off x="3200400" y="1280160"/>
            <a:ext cx="2697480" cy="3246120"/>
          </a:xfrm>
          <a:prstGeom prst="rect">
            <a:avLst/>
          </a:prstGeom>
          <a:solidFill>
            <a:srgbClr val="FFFFFF"/>
          </a:solidFill>
          <a:ln w="6350">
            <a:solidFill>
              <a:srgbClr val="DDE3EA"/>
            </a:solidFill>
            <a:prstDash val="solid"/>
          </a:ln>
          <a:effectLst>
            <a:outerShdw blurRad="101600" dist="38100" dir="8100000" algn="bl" rotWithShape="0">
              <a:srgbClr val="000000">
                <a:alpha val="12000"/>
              </a:srgbClr>
            </a:outerShdw>
          </a:effectLst>
        </p:spPr>
        <p:txBody>
          <a:bodyPr/>
          <a:lstStyle/>
          <a:p>
            <a:endParaRPr lang="en-US"/>
          </a:p>
        </p:txBody>
      </p:sp>
      <p:sp>
        <p:nvSpPr>
          <p:cNvPr id="21" name="Shape 19"/>
          <p:cNvSpPr/>
          <p:nvPr/>
        </p:nvSpPr>
        <p:spPr>
          <a:xfrm>
            <a:off x="3200400" y="1280160"/>
            <a:ext cx="2697480" cy="502920"/>
          </a:xfrm>
          <a:prstGeom prst="rect">
            <a:avLst/>
          </a:prstGeom>
          <a:solidFill>
            <a:srgbClr val="059669"/>
          </a:solidFill>
          <a:ln/>
        </p:spPr>
        <p:txBody>
          <a:bodyPr/>
          <a:lstStyle/>
          <a:p>
            <a:endParaRPr lang="en-US"/>
          </a:p>
        </p:txBody>
      </p:sp>
      <p:sp>
        <p:nvSpPr>
          <p:cNvPr id="22" name="Text 20"/>
          <p:cNvSpPr/>
          <p:nvPr/>
        </p:nvSpPr>
        <p:spPr>
          <a:xfrm>
            <a:off x="3200400" y="1280160"/>
            <a:ext cx="2697480" cy="502920"/>
          </a:xfrm>
          <a:prstGeom prst="rect">
            <a:avLst/>
          </a:prstGeom>
          <a:noFill/>
          <a:ln/>
        </p:spPr>
        <p:txBody>
          <a:bodyPr wrap="square" lIns="0" tIns="0" rIns="0" bIns="0" rtlCol="0" anchor="ctr"/>
          <a:lstStyle/>
          <a:p>
            <a:pPr marL="0" indent="0" algn="ctr">
              <a:buNone/>
            </a:pPr>
            <a:r>
              <a:rPr lang="en-US" sz="1200" b="1" dirty="0">
                <a:solidFill>
                  <a:srgbClr val="FFFFFF"/>
                </a:solidFill>
              </a:rPr>
              <a:t>Stage 2</a:t>
            </a:r>
            <a:endParaRPr lang="en-US" sz="1200" dirty="0"/>
          </a:p>
        </p:txBody>
      </p:sp>
      <p:sp>
        <p:nvSpPr>
          <p:cNvPr id="23" name="Text 21"/>
          <p:cNvSpPr/>
          <p:nvPr/>
        </p:nvSpPr>
        <p:spPr>
          <a:xfrm>
            <a:off x="3310128" y="1847088"/>
            <a:ext cx="2468880" cy="274320"/>
          </a:xfrm>
          <a:prstGeom prst="rect">
            <a:avLst/>
          </a:prstGeom>
          <a:noFill/>
          <a:ln/>
        </p:spPr>
        <p:txBody>
          <a:bodyPr wrap="square" rtlCol="0" anchor="ctr"/>
          <a:lstStyle/>
          <a:p>
            <a:pPr marL="0" indent="0">
              <a:buNone/>
            </a:pPr>
            <a:r>
              <a:rPr lang="en-US" sz="1200" b="1" dirty="0">
                <a:solidFill>
                  <a:srgbClr val="334155"/>
                </a:solidFill>
                <a:latin typeface="Calibri" pitchFamily="34" charset="0"/>
                <a:ea typeface="Calibri" pitchFamily="34" charset="-122"/>
                <a:cs typeface="Calibri" pitchFamily="34" charset="-120"/>
              </a:rPr>
              <a:t>embed.py</a:t>
            </a:r>
            <a:endParaRPr lang="en-US" sz="1200" dirty="0"/>
          </a:p>
        </p:txBody>
      </p:sp>
      <p:sp>
        <p:nvSpPr>
          <p:cNvPr id="24" name="Text 22"/>
          <p:cNvSpPr/>
          <p:nvPr/>
        </p:nvSpPr>
        <p:spPr>
          <a:xfrm>
            <a:off x="3310128" y="2121408"/>
            <a:ext cx="2468880" cy="228600"/>
          </a:xfrm>
          <a:prstGeom prst="rect">
            <a:avLst/>
          </a:prstGeom>
          <a:noFill/>
          <a:ln/>
        </p:spPr>
        <p:txBody>
          <a:bodyPr wrap="square" rtlCol="0" anchor="ctr"/>
          <a:lstStyle/>
          <a:p>
            <a:pPr marL="0" indent="0">
              <a:buNone/>
            </a:pPr>
            <a:r>
              <a:rPr lang="en-US" sz="900" dirty="0">
                <a:solidFill>
                  <a:srgbClr val="94A3B8"/>
                </a:solidFill>
              </a:rPr>
              <a:t>Run once after Stage 1</a:t>
            </a:r>
            <a:endParaRPr lang="en-US" sz="900" dirty="0"/>
          </a:p>
        </p:txBody>
      </p:sp>
      <p:sp>
        <p:nvSpPr>
          <p:cNvPr id="25" name="Text 23"/>
          <p:cNvSpPr/>
          <p:nvPr/>
        </p:nvSpPr>
        <p:spPr>
          <a:xfrm>
            <a:off x="3310128" y="2423160"/>
            <a:ext cx="2487168" cy="329184"/>
          </a:xfrm>
          <a:prstGeom prst="rect">
            <a:avLst/>
          </a:prstGeom>
          <a:noFill/>
          <a:ln/>
        </p:spPr>
        <p:txBody>
          <a:bodyPr wrap="square" rtlCol="0" anchor="ctr"/>
          <a:lstStyle/>
          <a:p>
            <a:pPr marL="342900" indent="-342900">
              <a:buSzPct val="100000"/>
              <a:buChar char="•"/>
            </a:pPr>
            <a:r>
              <a:rPr lang="en-US" sz="1000" dirty="0">
                <a:solidFill>
                  <a:srgbClr val="334155"/>
                </a:solidFill>
              </a:rPr>
              <a:t>  Load JSON chunks</a:t>
            </a:r>
            <a:endParaRPr lang="en-US" sz="1000" dirty="0"/>
          </a:p>
        </p:txBody>
      </p:sp>
      <p:sp>
        <p:nvSpPr>
          <p:cNvPr id="26" name="Text 24"/>
          <p:cNvSpPr/>
          <p:nvPr/>
        </p:nvSpPr>
        <p:spPr>
          <a:xfrm>
            <a:off x="3310128" y="2770632"/>
            <a:ext cx="2487168" cy="329184"/>
          </a:xfrm>
          <a:prstGeom prst="rect">
            <a:avLst/>
          </a:prstGeom>
          <a:noFill/>
          <a:ln/>
        </p:spPr>
        <p:txBody>
          <a:bodyPr wrap="square" rtlCol="0" anchor="ctr"/>
          <a:lstStyle/>
          <a:p>
            <a:pPr marL="342900" indent="-342900">
              <a:buSzPct val="100000"/>
              <a:buChar char="•"/>
            </a:pPr>
            <a:r>
              <a:rPr lang="en-US" sz="1000" dirty="0">
                <a:solidFill>
                  <a:srgbClr val="334155"/>
                </a:solidFill>
              </a:rPr>
              <a:t>  Convert each chunk to 1536-dim vector via OpenAI</a:t>
            </a:r>
            <a:endParaRPr lang="en-US" sz="1000" dirty="0"/>
          </a:p>
        </p:txBody>
      </p:sp>
      <p:sp>
        <p:nvSpPr>
          <p:cNvPr id="27" name="Text 25"/>
          <p:cNvSpPr/>
          <p:nvPr/>
        </p:nvSpPr>
        <p:spPr>
          <a:xfrm>
            <a:off x="3310128" y="3118104"/>
            <a:ext cx="2487168" cy="329184"/>
          </a:xfrm>
          <a:prstGeom prst="rect">
            <a:avLst/>
          </a:prstGeom>
          <a:noFill/>
          <a:ln/>
        </p:spPr>
        <p:txBody>
          <a:bodyPr wrap="square" rtlCol="0" anchor="ctr"/>
          <a:lstStyle/>
          <a:p>
            <a:pPr marL="342900" indent="-342900">
              <a:buSzPct val="100000"/>
              <a:buChar char="•"/>
            </a:pPr>
            <a:r>
              <a:rPr lang="en-US" sz="1000" dirty="0">
                <a:solidFill>
                  <a:srgbClr val="334155"/>
                </a:solidFill>
              </a:rPr>
              <a:t>  Store vectors in FAISS index</a:t>
            </a:r>
            <a:endParaRPr lang="en-US" sz="1000" dirty="0"/>
          </a:p>
        </p:txBody>
      </p:sp>
      <p:sp>
        <p:nvSpPr>
          <p:cNvPr id="28" name="Text 26"/>
          <p:cNvSpPr/>
          <p:nvPr/>
        </p:nvSpPr>
        <p:spPr>
          <a:xfrm>
            <a:off x="3310128" y="3465576"/>
            <a:ext cx="2487168" cy="329184"/>
          </a:xfrm>
          <a:prstGeom prst="rect">
            <a:avLst/>
          </a:prstGeom>
          <a:noFill/>
          <a:ln/>
        </p:spPr>
        <p:txBody>
          <a:bodyPr wrap="square" rtlCol="0" anchor="ctr"/>
          <a:lstStyle/>
          <a:p>
            <a:pPr marL="342900" indent="-342900">
              <a:buSzPct val="100000"/>
              <a:buChar char="•"/>
            </a:pPr>
            <a:r>
              <a:rPr lang="en-US" sz="1000" dirty="0">
                <a:solidFill>
                  <a:srgbClr val="334155"/>
                </a:solidFill>
              </a:rPr>
              <a:t>  Save index + metadata files</a:t>
            </a:r>
            <a:endParaRPr lang="en-US" sz="1000" dirty="0"/>
          </a:p>
        </p:txBody>
      </p:sp>
      <p:sp>
        <p:nvSpPr>
          <p:cNvPr id="29" name="Shape 27"/>
          <p:cNvSpPr/>
          <p:nvPr/>
        </p:nvSpPr>
        <p:spPr>
          <a:xfrm>
            <a:off x="3310128" y="4160520"/>
            <a:ext cx="2468880" cy="256032"/>
          </a:xfrm>
          <a:prstGeom prst="rect">
            <a:avLst/>
          </a:prstGeom>
          <a:solidFill>
            <a:srgbClr val="F1F5F9"/>
          </a:solidFill>
          <a:ln w="6350">
            <a:solidFill>
              <a:srgbClr val="CBD5E1"/>
            </a:solidFill>
            <a:prstDash val="solid"/>
          </a:ln>
        </p:spPr>
        <p:txBody>
          <a:bodyPr/>
          <a:lstStyle/>
          <a:p>
            <a:endParaRPr lang="en-US"/>
          </a:p>
        </p:txBody>
      </p:sp>
      <p:sp>
        <p:nvSpPr>
          <p:cNvPr id="30" name="Text 28"/>
          <p:cNvSpPr/>
          <p:nvPr/>
        </p:nvSpPr>
        <p:spPr>
          <a:xfrm>
            <a:off x="3310128" y="4160520"/>
            <a:ext cx="2468880" cy="256032"/>
          </a:xfrm>
          <a:prstGeom prst="rect">
            <a:avLst/>
          </a:prstGeom>
          <a:noFill/>
          <a:ln/>
        </p:spPr>
        <p:txBody>
          <a:bodyPr wrap="square" lIns="0" tIns="0" rIns="0" bIns="0" rtlCol="0" anchor="ctr"/>
          <a:lstStyle/>
          <a:p>
            <a:pPr marL="0" indent="0" algn="ctr">
              <a:buNone/>
            </a:pPr>
            <a:r>
              <a:rPr lang="en-US" sz="800" dirty="0">
                <a:solidFill>
                  <a:srgbClr val="94A3B8"/>
                </a:solidFill>
              </a:rPr>
              <a:t>Output: haw_kb_en.index  haw_kb_meta_en.json</a:t>
            </a:r>
            <a:endParaRPr lang="en-US" sz="800" dirty="0"/>
          </a:p>
        </p:txBody>
      </p:sp>
      <p:sp>
        <p:nvSpPr>
          <p:cNvPr id="31" name="Shape 29"/>
          <p:cNvSpPr/>
          <p:nvPr/>
        </p:nvSpPr>
        <p:spPr>
          <a:xfrm>
            <a:off x="5897880" y="2898648"/>
            <a:ext cx="164592" cy="0"/>
          </a:xfrm>
          <a:prstGeom prst="line">
            <a:avLst/>
          </a:prstGeom>
          <a:noFill/>
          <a:ln w="15240">
            <a:solidFill>
              <a:srgbClr val="94A3B8"/>
            </a:solidFill>
            <a:prstDash val="solid"/>
          </a:ln>
        </p:spPr>
        <p:txBody>
          <a:bodyPr/>
          <a:lstStyle/>
          <a:p>
            <a:endParaRPr lang="en-US"/>
          </a:p>
        </p:txBody>
      </p:sp>
      <p:sp>
        <p:nvSpPr>
          <p:cNvPr id="32" name="Text 30"/>
          <p:cNvSpPr/>
          <p:nvPr/>
        </p:nvSpPr>
        <p:spPr>
          <a:xfrm>
            <a:off x="6035040" y="2788920"/>
            <a:ext cx="182880" cy="228600"/>
          </a:xfrm>
          <a:prstGeom prst="rect">
            <a:avLst/>
          </a:prstGeom>
          <a:noFill/>
          <a:ln/>
        </p:spPr>
        <p:txBody>
          <a:bodyPr wrap="square" rtlCol="0" anchor="ctr"/>
          <a:lstStyle/>
          <a:p>
            <a:pPr marL="0" indent="0" algn="ctr">
              <a:buNone/>
            </a:pPr>
            <a:r>
              <a:rPr lang="en-US" sz="1100" dirty="0">
                <a:solidFill>
                  <a:srgbClr val="94A3B8"/>
                </a:solidFill>
              </a:rPr>
              <a:t>▶</a:t>
            </a:r>
            <a:endParaRPr lang="en-US" sz="1100" dirty="0"/>
          </a:p>
        </p:txBody>
      </p:sp>
      <p:sp>
        <p:nvSpPr>
          <p:cNvPr id="33" name="Shape 31"/>
          <p:cNvSpPr/>
          <p:nvPr/>
        </p:nvSpPr>
        <p:spPr>
          <a:xfrm>
            <a:off x="6080760" y="1280160"/>
            <a:ext cx="2697480" cy="3246120"/>
          </a:xfrm>
          <a:prstGeom prst="rect">
            <a:avLst/>
          </a:prstGeom>
          <a:solidFill>
            <a:srgbClr val="FFFFFF"/>
          </a:solidFill>
          <a:ln w="6350">
            <a:solidFill>
              <a:srgbClr val="DDE3EA"/>
            </a:solidFill>
            <a:prstDash val="solid"/>
          </a:ln>
          <a:effectLst>
            <a:outerShdw blurRad="101600" dist="38100" dir="8100000" algn="bl" rotWithShape="0">
              <a:srgbClr val="000000">
                <a:alpha val="12000"/>
              </a:srgbClr>
            </a:outerShdw>
          </a:effectLst>
        </p:spPr>
        <p:txBody>
          <a:bodyPr/>
          <a:lstStyle/>
          <a:p>
            <a:endParaRPr lang="en-US"/>
          </a:p>
        </p:txBody>
      </p:sp>
      <p:sp>
        <p:nvSpPr>
          <p:cNvPr id="34" name="Shape 32"/>
          <p:cNvSpPr/>
          <p:nvPr/>
        </p:nvSpPr>
        <p:spPr>
          <a:xfrm>
            <a:off x="6080760" y="1280160"/>
            <a:ext cx="2697480" cy="502920"/>
          </a:xfrm>
          <a:prstGeom prst="rect">
            <a:avLst/>
          </a:prstGeom>
          <a:solidFill>
            <a:srgbClr val="D97706"/>
          </a:solidFill>
          <a:ln/>
        </p:spPr>
        <p:txBody>
          <a:bodyPr/>
          <a:lstStyle/>
          <a:p>
            <a:endParaRPr lang="en-US"/>
          </a:p>
        </p:txBody>
      </p:sp>
      <p:sp>
        <p:nvSpPr>
          <p:cNvPr id="35" name="Text 33"/>
          <p:cNvSpPr/>
          <p:nvPr/>
        </p:nvSpPr>
        <p:spPr>
          <a:xfrm>
            <a:off x="6080760" y="1280160"/>
            <a:ext cx="2697480" cy="502920"/>
          </a:xfrm>
          <a:prstGeom prst="rect">
            <a:avLst/>
          </a:prstGeom>
          <a:noFill/>
          <a:ln/>
        </p:spPr>
        <p:txBody>
          <a:bodyPr wrap="square" lIns="0" tIns="0" rIns="0" bIns="0" rtlCol="0" anchor="ctr"/>
          <a:lstStyle/>
          <a:p>
            <a:pPr marL="0" indent="0" algn="ctr">
              <a:buNone/>
            </a:pPr>
            <a:r>
              <a:rPr lang="en-US" sz="1200" b="1" dirty="0">
                <a:solidFill>
                  <a:srgbClr val="FFFFFF"/>
                </a:solidFill>
              </a:rPr>
              <a:t>Stage 3</a:t>
            </a:r>
            <a:endParaRPr lang="en-US" sz="1200" dirty="0"/>
          </a:p>
        </p:txBody>
      </p:sp>
      <p:sp>
        <p:nvSpPr>
          <p:cNvPr id="36" name="Text 34"/>
          <p:cNvSpPr/>
          <p:nvPr/>
        </p:nvSpPr>
        <p:spPr>
          <a:xfrm>
            <a:off x="6190488" y="1847088"/>
            <a:ext cx="2468880" cy="274320"/>
          </a:xfrm>
          <a:prstGeom prst="rect">
            <a:avLst/>
          </a:prstGeom>
          <a:noFill/>
          <a:ln/>
        </p:spPr>
        <p:txBody>
          <a:bodyPr wrap="square" rtlCol="0" anchor="ctr"/>
          <a:lstStyle/>
          <a:p>
            <a:pPr marL="0" indent="0">
              <a:buNone/>
            </a:pPr>
            <a:r>
              <a:rPr lang="en-US" sz="1200" b="1" dirty="0">
                <a:solidFill>
                  <a:srgbClr val="334155"/>
                </a:solidFill>
                <a:latin typeface="Calibri" pitchFamily="34" charset="0"/>
                <a:ea typeface="Calibri" pitchFamily="34" charset="-122"/>
                <a:cs typeface="Calibri" pitchFamily="34" charset="-120"/>
              </a:rPr>
              <a:t>main.py</a:t>
            </a:r>
            <a:endParaRPr lang="en-US" sz="1200" dirty="0"/>
          </a:p>
        </p:txBody>
      </p:sp>
      <p:sp>
        <p:nvSpPr>
          <p:cNvPr id="37" name="Text 35"/>
          <p:cNvSpPr/>
          <p:nvPr/>
        </p:nvSpPr>
        <p:spPr>
          <a:xfrm>
            <a:off x="6190488" y="2121408"/>
            <a:ext cx="2468880" cy="228600"/>
          </a:xfrm>
          <a:prstGeom prst="rect">
            <a:avLst/>
          </a:prstGeom>
          <a:noFill/>
          <a:ln/>
        </p:spPr>
        <p:txBody>
          <a:bodyPr wrap="square" rtlCol="0" anchor="ctr"/>
          <a:lstStyle/>
          <a:p>
            <a:pPr marL="0" indent="0">
              <a:buNone/>
            </a:pPr>
            <a:r>
              <a:rPr lang="en-US" sz="900" dirty="0">
                <a:solidFill>
                  <a:srgbClr val="94A3B8"/>
                </a:solidFill>
              </a:rPr>
              <a:t>Runs live — the chatbot</a:t>
            </a:r>
            <a:endParaRPr lang="en-US" sz="900" dirty="0"/>
          </a:p>
        </p:txBody>
      </p:sp>
      <p:sp>
        <p:nvSpPr>
          <p:cNvPr id="38" name="Text 36"/>
          <p:cNvSpPr/>
          <p:nvPr/>
        </p:nvSpPr>
        <p:spPr>
          <a:xfrm>
            <a:off x="6190488" y="2423160"/>
            <a:ext cx="2487168" cy="329184"/>
          </a:xfrm>
          <a:prstGeom prst="rect">
            <a:avLst/>
          </a:prstGeom>
          <a:noFill/>
          <a:ln/>
        </p:spPr>
        <p:txBody>
          <a:bodyPr wrap="square" rtlCol="0" anchor="ctr"/>
          <a:lstStyle/>
          <a:p>
            <a:pPr marL="342900" indent="-342900">
              <a:buSzPct val="100000"/>
              <a:buChar char="•"/>
            </a:pPr>
            <a:r>
              <a:rPr lang="en-US" sz="1000" dirty="0">
                <a:solidFill>
                  <a:srgbClr val="334155"/>
                </a:solidFill>
              </a:rPr>
              <a:t>  Detect question language</a:t>
            </a:r>
            <a:endParaRPr lang="en-US" sz="1000" dirty="0"/>
          </a:p>
        </p:txBody>
      </p:sp>
      <p:sp>
        <p:nvSpPr>
          <p:cNvPr id="39" name="Text 37"/>
          <p:cNvSpPr/>
          <p:nvPr/>
        </p:nvSpPr>
        <p:spPr>
          <a:xfrm>
            <a:off x="6190488" y="2770632"/>
            <a:ext cx="2487168" cy="329184"/>
          </a:xfrm>
          <a:prstGeom prst="rect">
            <a:avLst/>
          </a:prstGeom>
          <a:noFill/>
          <a:ln/>
        </p:spPr>
        <p:txBody>
          <a:bodyPr wrap="square" rtlCol="0" anchor="ctr"/>
          <a:lstStyle/>
          <a:p>
            <a:pPr marL="342900" indent="-342900">
              <a:buSzPct val="100000"/>
              <a:buChar char="•"/>
            </a:pPr>
            <a:r>
              <a:rPr lang="en-US" sz="1000" dirty="0">
                <a:solidFill>
                  <a:srgbClr val="334155"/>
                </a:solidFill>
              </a:rPr>
              <a:t>  Embed query, search FAISS</a:t>
            </a:r>
            <a:endParaRPr lang="en-US" sz="1000" dirty="0"/>
          </a:p>
        </p:txBody>
      </p:sp>
      <p:sp>
        <p:nvSpPr>
          <p:cNvPr id="40" name="Text 38"/>
          <p:cNvSpPr/>
          <p:nvPr/>
        </p:nvSpPr>
        <p:spPr>
          <a:xfrm>
            <a:off x="6190488" y="3118104"/>
            <a:ext cx="2487168" cy="329184"/>
          </a:xfrm>
          <a:prstGeom prst="rect">
            <a:avLst/>
          </a:prstGeom>
          <a:noFill/>
          <a:ln/>
        </p:spPr>
        <p:txBody>
          <a:bodyPr wrap="square" rtlCol="0" anchor="ctr"/>
          <a:lstStyle/>
          <a:p>
            <a:pPr marL="342900" indent="-342900">
              <a:buSzPct val="100000"/>
              <a:buChar char="•"/>
            </a:pPr>
            <a:r>
              <a:rPr lang="en-US" sz="1000" dirty="0">
                <a:solidFill>
                  <a:srgbClr val="334155"/>
                </a:solidFill>
              </a:rPr>
              <a:t>  Check distance threshold</a:t>
            </a:r>
            <a:endParaRPr lang="en-US" sz="1000" dirty="0"/>
          </a:p>
        </p:txBody>
      </p:sp>
      <p:sp>
        <p:nvSpPr>
          <p:cNvPr id="41" name="Text 39"/>
          <p:cNvSpPr/>
          <p:nvPr/>
        </p:nvSpPr>
        <p:spPr>
          <a:xfrm>
            <a:off x="6190488" y="3465576"/>
            <a:ext cx="2487168" cy="329184"/>
          </a:xfrm>
          <a:prstGeom prst="rect">
            <a:avLst/>
          </a:prstGeom>
          <a:noFill/>
          <a:ln/>
        </p:spPr>
        <p:txBody>
          <a:bodyPr wrap="square" rtlCol="0" anchor="ctr"/>
          <a:lstStyle/>
          <a:p>
            <a:pPr marL="342900" indent="-342900">
              <a:buSzPct val="100000"/>
              <a:buChar char="•"/>
            </a:pPr>
            <a:r>
              <a:rPr lang="en-US" sz="1000" dirty="0">
                <a:solidFill>
                  <a:srgbClr val="334155"/>
                </a:solidFill>
              </a:rPr>
              <a:t>  Pass chunks to GPT</a:t>
            </a:r>
            <a:endParaRPr lang="en-US" sz="1000" dirty="0"/>
          </a:p>
        </p:txBody>
      </p:sp>
      <p:sp>
        <p:nvSpPr>
          <p:cNvPr id="42" name="Text 40"/>
          <p:cNvSpPr/>
          <p:nvPr/>
        </p:nvSpPr>
        <p:spPr>
          <a:xfrm>
            <a:off x="6190488" y="3813048"/>
            <a:ext cx="2487168" cy="329184"/>
          </a:xfrm>
          <a:prstGeom prst="rect">
            <a:avLst/>
          </a:prstGeom>
          <a:noFill/>
          <a:ln/>
        </p:spPr>
        <p:txBody>
          <a:bodyPr wrap="square" rtlCol="0" anchor="ctr"/>
          <a:lstStyle/>
          <a:p>
            <a:pPr marL="342900" indent="-342900">
              <a:buSzPct val="100000"/>
              <a:buChar char="•"/>
            </a:pPr>
            <a:r>
              <a:rPr lang="en-US" sz="1000" dirty="0">
                <a:solidFill>
                  <a:srgbClr val="334155"/>
                </a:solidFill>
              </a:rPr>
              <a:t>  Display answer in UI</a:t>
            </a:r>
            <a:endParaRPr lang="en-US" sz="1000" dirty="0"/>
          </a:p>
        </p:txBody>
      </p:sp>
      <p:sp>
        <p:nvSpPr>
          <p:cNvPr id="43" name="Shape 41"/>
          <p:cNvSpPr/>
          <p:nvPr/>
        </p:nvSpPr>
        <p:spPr>
          <a:xfrm>
            <a:off x="6190488" y="4160520"/>
            <a:ext cx="2468880" cy="256032"/>
          </a:xfrm>
          <a:prstGeom prst="rect">
            <a:avLst/>
          </a:prstGeom>
          <a:solidFill>
            <a:srgbClr val="F1F5F9"/>
          </a:solidFill>
          <a:ln w="6350">
            <a:solidFill>
              <a:srgbClr val="CBD5E1"/>
            </a:solidFill>
            <a:prstDash val="solid"/>
          </a:ln>
        </p:spPr>
        <p:txBody>
          <a:bodyPr/>
          <a:lstStyle/>
          <a:p>
            <a:endParaRPr lang="en-US"/>
          </a:p>
        </p:txBody>
      </p:sp>
      <p:sp>
        <p:nvSpPr>
          <p:cNvPr id="44" name="Text 42"/>
          <p:cNvSpPr/>
          <p:nvPr/>
        </p:nvSpPr>
        <p:spPr>
          <a:xfrm>
            <a:off x="6190488" y="4160520"/>
            <a:ext cx="2468880" cy="256032"/>
          </a:xfrm>
          <a:prstGeom prst="rect">
            <a:avLst/>
          </a:prstGeom>
          <a:noFill/>
          <a:ln/>
        </p:spPr>
        <p:txBody>
          <a:bodyPr wrap="square" lIns="0" tIns="0" rIns="0" bIns="0" rtlCol="0" anchor="ctr"/>
          <a:lstStyle/>
          <a:p>
            <a:pPr marL="0" indent="0" algn="ctr">
              <a:buNone/>
            </a:pPr>
            <a:r>
              <a:rPr lang="en-US" sz="800" dirty="0">
                <a:solidFill>
                  <a:srgbClr val="94A3B8"/>
                </a:solidFill>
              </a:rPr>
              <a:t>Output: Response shown  in chat UI</a:t>
            </a:r>
            <a:endParaRPr lang="en-US" sz="800" dirty="0"/>
          </a:p>
        </p:txBody>
      </p:sp>
    </p:spTree>
    <p:extLst>
      <p:ext uri="{BB962C8B-B14F-4D97-AF65-F5344CB8AC3E}">
        <p14:creationId xmlns:p14="http://schemas.microsoft.com/office/powerpoint/2010/main" val="35766551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228600"/>
            <a:ext cx="1371600" cy="256032"/>
          </a:xfrm>
          <a:prstGeom prst="roundRect">
            <a:avLst>
              <a:gd name="adj" fmla="val 21429"/>
            </a:avLst>
          </a:prstGeom>
          <a:solidFill>
            <a:srgbClr val="1A56DB"/>
          </a:solidFill>
          <a:ln/>
        </p:spPr>
        <p:txBody>
          <a:bodyPr/>
          <a:lstStyle/>
          <a:p>
            <a:endParaRPr lang="en-US"/>
          </a:p>
        </p:txBody>
      </p:sp>
      <p:sp>
        <p:nvSpPr>
          <p:cNvPr id="3" name="Text 1"/>
          <p:cNvSpPr/>
          <p:nvPr/>
        </p:nvSpPr>
        <p:spPr>
          <a:xfrm>
            <a:off x="365760" y="228600"/>
            <a:ext cx="1371600" cy="256032"/>
          </a:xfrm>
          <a:prstGeom prst="rect">
            <a:avLst/>
          </a:prstGeom>
          <a:noFill/>
          <a:ln/>
        </p:spPr>
        <p:txBody>
          <a:bodyPr wrap="square" lIns="0" tIns="0" rIns="0" bIns="0" rtlCol="0" anchor="ctr"/>
          <a:lstStyle/>
          <a:p>
            <a:pPr marL="0" indent="0" algn="ctr">
              <a:buNone/>
            </a:pPr>
            <a:r>
              <a:rPr lang="en-US" sz="800" b="1" dirty="0">
                <a:solidFill>
                  <a:srgbClr val="FFFFFF"/>
                </a:solidFill>
              </a:rPr>
              <a:t>HOW IT WORKS</a:t>
            </a:r>
            <a:endParaRPr lang="en-US" sz="800" dirty="0"/>
          </a:p>
        </p:txBody>
      </p:sp>
      <p:sp>
        <p:nvSpPr>
          <p:cNvPr id="4" name="Text 2"/>
          <p:cNvSpPr/>
          <p:nvPr/>
        </p:nvSpPr>
        <p:spPr>
          <a:xfrm>
            <a:off x="8321040" y="4846320"/>
            <a:ext cx="731520" cy="182880"/>
          </a:xfrm>
          <a:prstGeom prst="rect">
            <a:avLst/>
          </a:prstGeom>
          <a:noFill/>
          <a:ln/>
        </p:spPr>
        <p:txBody>
          <a:bodyPr wrap="square" rtlCol="0" anchor="ctr"/>
          <a:lstStyle/>
          <a:p>
            <a:pPr marL="0" indent="0" algn="r">
              <a:buNone/>
            </a:pPr>
            <a:r>
              <a:rPr lang="en-US" sz="900" dirty="0">
                <a:solidFill>
                  <a:srgbClr val="94A3B8"/>
                </a:solidFill>
              </a:rPr>
              <a:t>5 / 10</a:t>
            </a:r>
            <a:endParaRPr lang="en-US" sz="900" dirty="0"/>
          </a:p>
        </p:txBody>
      </p:sp>
      <p:sp>
        <p:nvSpPr>
          <p:cNvPr id="5" name="Text 3"/>
          <p:cNvSpPr/>
          <p:nvPr/>
        </p:nvSpPr>
        <p:spPr>
          <a:xfrm>
            <a:off x="365760" y="594360"/>
            <a:ext cx="8412480" cy="502920"/>
          </a:xfrm>
          <a:prstGeom prst="rect">
            <a:avLst/>
          </a:prstGeom>
          <a:noFill/>
          <a:ln/>
        </p:spPr>
        <p:txBody>
          <a:bodyPr wrap="square" rtlCol="0" anchor="ctr"/>
          <a:lstStyle/>
          <a:p>
            <a:pPr marL="0" indent="0">
              <a:buNone/>
            </a:pPr>
            <a:r>
              <a:rPr lang="en-US" sz="3000" b="1" dirty="0">
                <a:solidFill>
                  <a:srgbClr val="334155"/>
                </a:solidFill>
                <a:latin typeface="Calibri" pitchFamily="34" charset="0"/>
                <a:ea typeface="Calibri" pitchFamily="34" charset="-122"/>
                <a:cs typeface="Calibri" pitchFamily="34" charset="-120"/>
              </a:rPr>
              <a:t>From question to answer — 7 steps</a:t>
            </a:r>
            <a:endParaRPr lang="en-US" sz="3000" dirty="0"/>
          </a:p>
        </p:txBody>
      </p:sp>
      <p:sp>
        <p:nvSpPr>
          <p:cNvPr id="6" name="Shape 4"/>
          <p:cNvSpPr/>
          <p:nvPr/>
        </p:nvSpPr>
        <p:spPr>
          <a:xfrm>
            <a:off x="365760" y="1261872"/>
            <a:ext cx="4114800" cy="749808"/>
          </a:xfrm>
          <a:prstGeom prst="rect">
            <a:avLst/>
          </a:prstGeom>
          <a:solidFill>
            <a:srgbClr val="FFFFFF"/>
          </a:solidFill>
          <a:ln w="6350">
            <a:solidFill>
              <a:srgbClr val="DDE3EA"/>
            </a:solidFill>
            <a:prstDash val="solid"/>
          </a:ln>
          <a:effectLst>
            <a:outerShdw blurRad="101600" dist="38100" dir="8100000" algn="bl" rotWithShape="0">
              <a:srgbClr val="000000">
                <a:alpha val="12000"/>
              </a:srgbClr>
            </a:outerShdw>
          </a:effectLst>
        </p:spPr>
        <p:txBody>
          <a:bodyPr/>
          <a:lstStyle/>
          <a:p>
            <a:endParaRPr lang="en-US"/>
          </a:p>
        </p:txBody>
      </p:sp>
      <p:sp>
        <p:nvSpPr>
          <p:cNvPr id="7" name="Shape 5"/>
          <p:cNvSpPr/>
          <p:nvPr/>
        </p:nvSpPr>
        <p:spPr>
          <a:xfrm>
            <a:off x="475488" y="1417320"/>
            <a:ext cx="438912" cy="438912"/>
          </a:xfrm>
          <a:prstGeom prst="ellipse">
            <a:avLst/>
          </a:prstGeom>
          <a:solidFill>
            <a:srgbClr val="1A56DB"/>
          </a:solidFill>
          <a:ln/>
        </p:spPr>
        <p:txBody>
          <a:bodyPr/>
          <a:lstStyle/>
          <a:p>
            <a:endParaRPr lang="en-US"/>
          </a:p>
        </p:txBody>
      </p:sp>
      <p:sp>
        <p:nvSpPr>
          <p:cNvPr id="8" name="Text 6"/>
          <p:cNvSpPr/>
          <p:nvPr/>
        </p:nvSpPr>
        <p:spPr>
          <a:xfrm>
            <a:off x="475488" y="1417320"/>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9" name="Text 7"/>
          <p:cNvSpPr/>
          <p:nvPr/>
        </p:nvSpPr>
        <p:spPr>
          <a:xfrm>
            <a:off x="1024128" y="1353312"/>
            <a:ext cx="3337560" cy="274320"/>
          </a:xfrm>
          <a:prstGeom prst="rect">
            <a:avLst/>
          </a:prstGeom>
          <a:noFill/>
          <a:ln/>
        </p:spPr>
        <p:txBody>
          <a:bodyPr wrap="square" rtlCol="0" anchor="ctr"/>
          <a:lstStyle/>
          <a:p>
            <a:pPr marL="0" indent="0">
              <a:buNone/>
            </a:pPr>
            <a:r>
              <a:rPr lang="en-US" sz="1200" b="1" dirty="0">
                <a:solidFill>
                  <a:srgbClr val="334155"/>
                </a:solidFill>
              </a:rPr>
              <a:t>User types question</a:t>
            </a:r>
            <a:endParaRPr lang="en-US" sz="1200" dirty="0"/>
          </a:p>
        </p:txBody>
      </p:sp>
      <p:sp>
        <p:nvSpPr>
          <p:cNvPr id="10" name="Text 8"/>
          <p:cNvSpPr/>
          <p:nvPr/>
        </p:nvSpPr>
        <p:spPr>
          <a:xfrm>
            <a:off x="1024128" y="1664208"/>
            <a:ext cx="3337560" cy="256032"/>
          </a:xfrm>
          <a:prstGeom prst="rect">
            <a:avLst/>
          </a:prstGeom>
          <a:noFill/>
          <a:ln/>
        </p:spPr>
        <p:txBody>
          <a:bodyPr wrap="square" rtlCol="0" anchor="ctr"/>
          <a:lstStyle/>
          <a:p>
            <a:pPr marL="0" indent="0">
              <a:buNone/>
            </a:pPr>
            <a:r>
              <a:rPr lang="en-US" sz="1000" dirty="0">
                <a:solidFill>
                  <a:srgbClr val="94A3B8"/>
                </a:solidFill>
              </a:rPr>
              <a:t>Chat UI (main.py)</a:t>
            </a:r>
            <a:endParaRPr lang="en-US" sz="1000" dirty="0"/>
          </a:p>
        </p:txBody>
      </p:sp>
      <p:sp>
        <p:nvSpPr>
          <p:cNvPr id="11" name="Text 9"/>
          <p:cNvSpPr/>
          <p:nvPr/>
        </p:nvSpPr>
        <p:spPr>
          <a:xfrm>
            <a:off x="621792" y="2011680"/>
            <a:ext cx="274320" cy="182880"/>
          </a:xfrm>
          <a:prstGeom prst="rect">
            <a:avLst/>
          </a:prstGeom>
          <a:noFill/>
          <a:ln/>
        </p:spPr>
        <p:txBody>
          <a:bodyPr wrap="square" rtlCol="0" anchor="ctr"/>
          <a:lstStyle/>
          <a:p>
            <a:pPr marL="0" indent="0" algn="ctr">
              <a:buNone/>
            </a:pPr>
            <a:r>
              <a:rPr lang="en-US" sz="1000" dirty="0">
                <a:solidFill>
                  <a:srgbClr val="94A3B8"/>
                </a:solidFill>
              </a:rPr>
              <a:t>↓</a:t>
            </a:r>
            <a:endParaRPr lang="en-US" sz="1000" dirty="0"/>
          </a:p>
        </p:txBody>
      </p:sp>
      <p:sp>
        <p:nvSpPr>
          <p:cNvPr id="12" name="Shape 10"/>
          <p:cNvSpPr/>
          <p:nvPr/>
        </p:nvSpPr>
        <p:spPr>
          <a:xfrm>
            <a:off x="365760" y="2157984"/>
            <a:ext cx="4114800" cy="749808"/>
          </a:xfrm>
          <a:prstGeom prst="rect">
            <a:avLst/>
          </a:prstGeom>
          <a:solidFill>
            <a:srgbClr val="FFFFFF"/>
          </a:solidFill>
          <a:ln w="6350">
            <a:solidFill>
              <a:srgbClr val="DDE3EA"/>
            </a:solidFill>
            <a:prstDash val="solid"/>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475488" y="2313432"/>
            <a:ext cx="438912" cy="438912"/>
          </a:xfrm>
          <a:prstGeom prst="ellipse">
            <a:avLst/>
          </a:prstGeom>
          <a:solidFill>
            <a:srgbClr val="1A56DB"/>
          </a:solidFill>
          <a:ln/>
        </p:spPr>
        <p:txBody>
          <a:bodyPr/>
          <a:lstStyle/>
          <a:p>
            <a:endParaRPr lang="en-US"/>
          </a:p>
        </p:txBody>
      </p:sp>
      <p:sp>
        <p:nvSpPr>
          <p:cNvPr id="14" name="Text 12"/>
          <p:cNvSpPr/>
          <p:nvPr/>
        </p:nvSpPr>
        <p:spPr>
          <a:xfrm>
            <a:off x="475488" y="2313432"/>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5" name="Text 13"/>
          <p:cNvSpPr/>
          <p:nvPr/>
        </p:nvSpPr>
        <p:spPr>
          <a:xfrm>
            <a:off x="1024128" y="2249424"/>
            <a:ext cx="3337560" cy="274320"/>
          </a:xfrm>
          <a:prstGeom prst="rect">
            <a:avLst/>
          </a:prstGeom>
          <a:noFill/>
          <a:ln/>
        </p:spPr>
        <p:txBody>
          <a:bodyPr wrap="square" rtlCol="0" anchor="ctr"/>
          <a:lstStyle/>
          <a:p>
            <a:pPr marL="0" indent="0">
              <a:buNone/>
            </a:pPr>
            <a:r>
              <a:rPr lang="en-US" sz="1200" b="1" dirty="0">
                <a:solidFill>
                  <a:srgbClr val="334155"/>
                </a:solidFill>
              </a:rPr>
              <a:t>Language detected</a:t>
            </a:r>
            <a:endParaRPr lang="en-US" sz="1200" dirty="0"/>
          </a:p>
        </p:txBody>
      </p:sp>
      <p:sp>
        <p:nvSpPr>
          <p:cNvPr id="16" name="Text 14"/>
          <p:cNvSpPr/>
          <p:nvPr/>
        </p:nvSpPr>
        <p:spPr>
          <a:xfrm>
            <a:off x="1024128" y="2560320"/>
            <a:ext cx="3337560" cy="256032"/>
          </a:xfrm>
          <a:prstGeom prst="rect">
            <a:avLst/>
          </a:prstGeom>
          <a:noFill/>
          <a:ln/>
        </p:spPr>
        <p:txBody>
          <a:bodyPr wrap="square" rtlCol="0" anchor="ctr"/>
          <a:lstStyle/>
          <a:p>
            <a:pPr marL="0" indent="0">
              <a:buNone/>
            </a:pPr>
            <a:r>
              <a:rPr lang="en-US" sz="1000" dirty="0">
                <a:solidFill>
                  <a:srgbClr val="94A3B8"/>
                </a:solidFill>
              </a:rPr>
              <a:t>langid → EN or DE index</a:t>
            </a:r>
            <a:endParaRPr lang="en-US" sz="1000" dirty="0"/>
          </a:p>
        </p:txBody>
      </p:sp>
      <p:sp>
        <p:nvSpPr>
          <p:cNvPr id="17" name="Text 15"/>
          <p:cNvSpPr/>
          <p:nvPr/>
        </p:nvSpPr>
        <p:spPr>
          <a:xfrm>
            <a:off x="621792" y="2907792"/>
            <a:ext cx="274320" cy="182880"/>
          </a:xfrm>
          <a:prstGeom prst="rect">
            <a:avLst/>
          </a:prstGeom>
          <a:noFill/>
          <a:ln/>
        </p:spPr>
        <p:txBody>
          <a:bodyPr wrap="square" rtlCol="0" anchor="ctr"/>
          <a:lstStyle/>
          <a:p>
            <a:pPr marL="0" indent="0" algn="ctr">
              <a:buNone/>
            </a:pPr>
            <a:r>
              <a:rPr lang="en-US" sz="1000" dirty="0">
                <a:solidFill>
                  <a:srgbClr val="94A3B8"/>
                </a:solidFill>
              </a:rPr>
              <a:t>↓</a:t>
            </a:r>
            <a:endParaRPr lang="en-US" sz="1000" dirty="0"/>
          </a:p>
        </p:txBody>
      </p:sp>
      <p:sp>
        <p:nvSpPr>
          <p:cNvPr id="18" name="Shape 16"/>
          <p:cNvSpPr/>
          <p:nvPr/>
        </p:nvSpPr>
        <p:spPr>
          <a:xfrm>
            <a:off x="365760" y="3054096"/>
            <a:ext cx="4114800" cy="749808"/>
          </a:xfrm>
          <a:prstGeom prst="rect">
            <a:avLst/>
          </a:prstGeom>
          <a:solidFill>
            <a:srgbClr val="FFFFFF"/>
          </a:solidFill>
          <a:ln w="6350">
            <a:solidFill>
              <a:srgbClr val="DDE3EA"/>
            </a:solidFill>
            <a:prstDash val="solid"/>
          </a:ln>
          <a:effectLst>
            <a:outerShdw blurRad="101600" dist="38100" dir="8100000" algn="bl" rotWithShape="0">
              <a:srgbClr val="000000">
                <a:alpha val="12000"/>
              </a:srgbClr>
            </a:outerShdw>
          </a:effectLst>
        </p:spPr>
        <p:txBody>
          <a:bodyPr/>
          <a:lstStyle/>
          <a:p>
            <a:endParaRPr lang="en-US"/>
          </a:p>
        </p:txBody>
      </p:sp>
      <p:sp>
        <p:nvSpPr>
          <p:cNvPr id="19" name="Shape 17"/>
          <p:cNvSpPr/>
          <p:nvPr/>
        </p:nvSpPr>
        <p:spPr>
          <a:xfrm>
            <a:off x="475488" y="3209544"/>
            <a:ext cx="438912" cy="438912"/>
          </a:xfrm>
          <a:prstGeom prst="ellipse">
            <a:avLst/>
          </a:prstGeom>
          <a:solidFill>
            <a:srgbClr val="1A56DB"/>
          </a:solidFill>
          <a:ln/>
        </p:spPr>
        <p:txBody>
          <a:bodyPr/>
          <a:lstStyle/>
          <a:p>
            <a:endParaRPr lang="en-US"/>
          </a:p>
        </p:txBody>
      </p:sp>
      <p:sp>
        <p:nvSpPr>
          <p:cNvPr id="20" name="Text 18"/>
          <p:cNvSpPr/>
          <p:nvPr/>
        </p:nvSpPr>
        <p:spPr>
          <a:xfrm>
            <a:off x="475488" y="3209544"/>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21" name="Text 19"/>
          <p:cNvSpPr/>
          <p:nvPr/>
        </p:nvSpPr>
        <p:spPr>
          <a:xfrm>
            <a:off x="1024128" y="3145536"/>
            <a:ext cx="3337560" cy="274320"/>
          </a:xfrm>
          <a:prstGeom prst="rect">
            <a:avLst/>
          </a:prstGeom>
          <a:noFill/>
          <a:ln/>
        </p:spPr>
        <p:txBody>
          <a:bodyPr wrap="square" rtlCol="0" anchor="ctr"/>
          <a:lstStyle/>
          <a:p>
            <a:pPr marL="0" indent="0">
              <a:buNone/>
            </a:pPr>
            <a:r>
              <a:rPr lang="en-US" sz="1200" b="1" dirty="0">
                <a:solidFill>
                  <a:srgbClr val="334155"/>
                </a:solidFill>
              </a:rPr>
              <a:t>Question embedded</a:t>
            </a:r>
            <a:endParaRPr lang="en-US" sz="1200" dirty="0"/>
          </a:p>
        </p:txBody>
      </p:sp>
      <p:sp>
        <p:nvSpPr>
          <p:cNvPr id="22" name="Text 20"/>
          <p:cNvSpPr/>
          <p:nvPr/>
        </p:nvSpPr>
        <p:spPr>
          <a:xfrm>
            <a:off x="1024128" y="3456432"/>
            <a:ext cx="3337560" cy="256032"/>
          </a:xfrm>
          <a:prstGeom prst="rect">
            <a:avLst/>
          </a:prstGeom>
          <a:noFill/>
          <a:ln/>
        </p:spPr>
        <p:txBody>
          <a:bodyPr wrap="square" rtlCol="0" anchor="ctr"/>
          <a:lstStyle/>
          <a:p>
            <a:pPr marL="0" indent="0">
              <a:buNone/>
            </a:pPr>
            <a:r>
              <a:rPr lang="en-US" sz="1000" dirty="0">
                <a:solidFill>
                  <a:srgbClr val="94A3B8"/>
                </a:solidFill>
              </a:rPr>
              <a:t>OpenAI → 1536-dim vector</a:t>
            </a:r>
            <a:endParaRPr lang="en-US" sz="1000" dirty="0"/>
          </a:p>
        </p:txBody>
      </p:sp>
      <p:sp>
        <p:nvSpPr>
          <p:cNvPr id="23" name="Text 21"/>
          <p:cNvSpPr/>
          <p:nvPr/>
        </p:nvSpPr>
        <p:spPr>
          <a:xfrm>
            <a:off x="621792" y="3803904"/>
            <a:ext cx="274320" cy="182880"/>
          </a:xfrm>
          <a:prstGeom prst="rect">
            <a:avLst/>
          </a:prstGeom>
          <a:noFill/>
          <a:ln/>
        </p:spPr>
        <p:txBody>
          <a:bodyPr wrap="square" rtlCol="0" anchor="ctr"/>
          <a:lstStyle/>
          <a:p>
            <a:pPr marL="0" indent="0" algn="ctr">
              <a:buNone/>
            </a:pPr>
            <a:r>
              <a:rPr lang="en-US" sz="1000" dirty="0">
                <a:solidFill>
                  <a:srgbClr val="94A3B8"/>
                </a:solidFill>
              </a:rPr>
              <a:t>↓</a:t>
            </a:r>
            <a:endParaRPr lang="en-US" sz="1000" dirty="0"/>
          </a:p>
        </p:txBody>
      </p:sp>
      <p:sp>
        <p:nvSpPr>
          <p:cNvPr id="24" name="Shape 22"/>
          <p:cNvSpPr/>
          <p:nvPr/>
        </p:nvSpPr>
        <p:spPr>
          <a:xfrm>
            <a:off x="365760" y="3950208"/>
            <a:ext cx="4114800" cy="749808"/>
          </a:xfrm>
          <a:prstGeom prst="rect">
            <a:avLst/>
          </a:prstGeom>
          <a:solidFill>
            <a:srgbClr val="FFFFFF"/>
          </a:solidFill>
          <a:ln w="6350">
            <a:solidFill>
              <a:srgbClr val="DDE3EA"/>
            </a:solidFill>
            <a:prstDash val="solid"/>
          </a:ln>
          <a:effectLst>
            <a:outerShdw blurRad="101600" dist="38100" dir="8100000" algn="bl" rotWithShape="0">
              <a:srgbClr val="000000">
                <a:alpha val="12000"/>
              </a:srgbClr>
            </a:outerShdw>
          </a:effectLst>
        </p:spPr>
        <p:txBody>
          <a:bodyPr/>
          <a:lstStyle/>
          <a:p>
            <a:endParaRPr lang="en-US"/>
          </a:p>
        </p:txBody>
      </p:sp>
      <p:sp>
        <p:nvSpPr>
          <p:cNvPr id="25" name="Shape 23"/>
          <p:cNvSpPr/>
          <p:nvPr/>
        </p:nvSpPr>
        <p:spPr>
          <a:xfrm>
            <a:off x="475488" y="4105656"/>
            <a:ext cx="438912" cy="438912"/>
          </a:xfrm>
          <a:prstGeom prst="ellipse">
            <a:avLst/>
          </a:prstGeom>
          <a:solidFill>
            <a:srgbClr val="1A56DB"/>
          </a:solidFill>
          <a:ln/>
        </p:spPr>
        <p:txBody>
          <a:bodyPr/>
          <a:lstStyle/>
          <a:p>
            <a:endParaRPr lang="en-US"/>
          </a:p>
        </p:txBody>
      </p:sp>
      <p:sp>
        <p:nvSpPr>
          <p:cNvPr id="26" name="Text 24"/>
          <p:cNvSpPr/>
          <p:nvPr/>
        </p:nvSpPr>
        <p:spPr>
          <a:xfrm>
            <a:off x="475488" y="4105656"/>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27" name="Text 25"/>
          <p:cNvSpPr/>
          <p:nvPr/>
        </p:nvSpPr>
        <p:spPr>
          <a:xfrm>
            <a:off x="1024128" y="4041648"/>
            <a:ext cx="3337560" cy="274320"/>
          </a:xfrm>
          <a:prstGeom prst="rect">
            <a:avLst/>
          </a:prstGeom>
          <a:noFill/>
          <a:ln/>
        </p:spPr>
        <p:txBody>
          <a:bodyPr wrap="square" rtlCol="0" anchor="ctr"/>
          <a:lstStyle/>
          <a:p>
            <a:pPr marL="0" indent="0">
              <a:buNone/>
            </a:pPr>
            <a:r>
              <a:rPr lang="en-US" sz="1200" b="1" dirty="0">
                <a:solidFill>
                  <a:srgbClr val="334155"/>
                </a:solidFill>
              </a:rPr>
              <a:t>FAISS searches index</a:t>
            </a:r>
            <a:endParaRPr lang="en-US" sz="1200" dirty="0"/>
          </a:p>
        </p:txBody>
      </p:sp>
      <p:sp>
        <p:nvSpPr>
          <p:cNvPr id="28" name="Text 26"/>
          <p:cNvSpPr/>
          <p:nvPr/>
        </p:nvSpPr>
        <p:spPr>
          <a:xfrm>
            <a:off x="1024128" y="4352544"/>
            <a:ext cx="3337560" cy="256032"/>
          </a:xfrm>
          <a:prstGeom prst="rect">
            <a:avLst/>
          </a:prstGeom>
          <a:noFill/>
          <a:ln/>
        </p:spPr>
        <p:txBody>
          <a:bodyPr wrap="square" rtlCol="0" anchor="ctr"/>
          <a:lstStyle/>
          <a:p>
            <a:pPr marL="0" indent="0">
              <a:buNone/>
            </a:pPr>
            <a:r>
              <a:rPr lang="en-US" sz="1000" dirty="0">
                <a:solidFill>
                  <a:srgbClr val="94A3B8"/>
                </a:solidFill>
              </a:rPr>
              <a:t>Finds 4 closest chunks by L2 distance</a:t>
            </a:r>
            <a:endParaRPr lang="en-US" sz="1000" dirty="0"/>
          </a:p>
        </p:txBody>
      </p:sp>
      <p:sp>
        <p:nvSpPr>
          <p:cNvPr id="29" name="Text 27"/>
          <p:cNvSpPr/>
          <p:nvPr/>
        </p:nvSpPr>
        <p:spPr>
          <a:xfrm>
            <a:off x="4206240" y="4178808"/>
            <a:ext cx="914400" cy="320040"/>
          </a:xfrm>
          <a:prstGeom prst="rect">
            <a:avLst/>
          </a:prstGeom>
          <a:noFill/>
          <a:ln/>
        </p:spPr>
        <p:txBody>
          <a:bodyPr wrap="square" rtlCol="0" anchor="ctr"/>
          <a:lstStyle/>
          <a:p>
            <a:pPr marL="0" indent="0" algn="ctr">
              <a:buNone/>
            </a:pPr>
            <a:r>
              <a:rPr lang="en-US" sz="900" dirty="0">
                <a:solidFill>
                  <a:srgbClr val="94A3B8"/>
                </a:solidFill>
              </a:rPr>
              <a:t>→ if score OK</a:t>
            </a:r>
            <a:endParaRPr lang="en-US" sz="900" dirty="0"/>
          </a:p>
        </p:txBody>
      </p:sp>
      <p:sp>
        <p:nvSpPr>
          <p:cNvPr id="30" name="Shape 28"/>
          <p:cNvSpPr/>
          <p:nvPr/>
        </p:nvSpPr>
        <p:spPr>
          <a:xfrm>
            <a:off x="4800600" y="1261872"/>
            <a:ext cx="4114800" cy="749808"/>
          </a:xfrm>
          <a:prstGeom prst="rect">
            <a:avLst/>
          </a:prstGeom>
          <a:solidFill>
            <a:srgbClr val="FFFFFF"/>
          </a:solidFill>
          <a:ln w="6350">
            <a:solidFill>
              <a:srgbClr val="DDE3EA"/>
            </a:solidFill>
            <a:prstDash val="solid"/>
          </a:ln>
          <a:effectLst>
            <a:outerShdw blurRad="101600" dist="38100" dir="8100000" algn="bl" rotWithShape="0">
              <a:srgbClr val="000000">
                <a:alpha val="12000"/>
              </a:srgbClr>
            </a:outerShdw>
          </a:effectLst>
        </p:spPr>
        <p:txBody>
          <a:bodyPr/>
          <a:lstStyle/>
          <a:p>
            <a:endParaRPr lang="en-US"/>
          </a:p>
        </p:txBody>
      </p:sp>
      <p:sp>
        <p:nvSpPr>
          <p:cNvPr id="31" name="Shape 29"/>
          <p:cNvSpPr/>
          <p:nvPr/>
        </p:nvSpPr>
        <p:spPr>
          <a:xfrm>
            <a:off x="4910328" y="1417320"/>
            <a:ext cx="438912" cy="438912"/>
          </a:xfrm>
          <a:prstGeom prst="ellipse">
            <a:avLst/>
          </a:prstGeom>
          <a:solidFill>
            <a:srgbClr val="D97706"/>
          </a:solidFill>
          <a:ln/>
        </p:spPr>
        <p:txBody>
          <a:bodyPr/>
          <a:lstStyle/>
          <a:p>
            <a:endParaRPr lang="en-US"/>
          </a:p>
        </p:txBody>
      </p:sp>
      <p:sp>
        <p:nvSpPr>
          <p:cNvPr id="32" name="Text 30"/>
          <p:cNvSpPr/>
          <p:nvPr/>
        </p:nvSpPr>
        <p:spPr>
          <a:xfrm>
            <a:off x="4910328" y="1417320"/>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rPr>
              <a:t>5</a:t>
            </a:r>
            <a:endParaRPr lang="en-US" sz="1300" dirty="0"/>
          </a:p>
        </p:txBody>
      </p:sp>
      <p:sp>
        <p:nvSpPr>
          <p:cNvPr id="33" name="Text 31"/>
          <p:cNvSpPr/>
          <p:nvPr/>
        </p:nvSpPr>
        <p:spPr>
          <a:xfrm>
            <a:off x="5458968" y="1353312"/>
            <a:ext cx="3337560" cy="274320"/>
          </a:xfrm>
          <a:prstGeom prst="rect">
            <a:avLst/>
          </a:prstGeom>
          <a:noFill/>
          <a:ln/>
        </p:spPr>
        <p:txBody>
          <a:bodyPr wrap="square" rtlCol="0" anchor="ctr"/>
          <a:lstStyle/>
          <a:p>
            <a:pPr marL="0" indent="0">
              <a:buNone/>
            </a:pPr>
            <a:r>
              <a:rPr lang="en-US" sz="1200" b="1" dirty="0">
                <a:solidFill>
                  <a:srgbClr val="334155"/>
                </a:solidFill>
              </a:rPr>
              <a:t>Score checked</a:t>
            </a:r>
            <a:endParaRPr lang="en-US" sz="1200" dirty="0"/>
          </a:p>
        </p:txBody>
      </p:sp>
      <p:sp>
        <p:nvSpPr>
          <p:cNvPr id="34" name="Text 32"/>
          <p:cNvSpPr/>
          <p:nvPr/>
        </p:nvSpPr>
        <p:spPr>
          <a:xfrm>
            <a:off x="5458968" y="1664208"/>
            <a:ext cx="3337560" cy="256032"/>
          </a:xfrm>
          <a:prstGeom prst="rect">
            <a:avLst/>
          </a:prstGeom>
          <a:noFill/>
          <a:ln/>
        </p:spPr>
        <p:txBody>
          <a:bodyPr wrap="square" rtlCol="0" anchor="ctr"/>
          <a:lstStyle/>
          <a:p>
            <a:pPr marL="0" indent="0">
              <a:buNone/>
            </a:pPr>
            <a:r>
              <a:rPr lang="en-US" sz="1000" dirty="0">
                <a:solidFill>
                  <a:srgbClr val="94A3B8"/>
                </a:solidFill>
              </a:rPr>
              <a:t>score &gt; 2.0 → refuse. score ≤ 2.0 → continue</a:t>
            </a:r>
            <a:endParaRPr lang="en-US" sz="1000" dirty="0"/>
          </a:p>
        </p:txBody>
      </p:sp>
      <p:sp>
        <p:nvSpPr>
          <p:cNvPr id="35" name="Text 33"/>
          <p:cNvSpPr/>
          <p:nvPr/>
        </p:nvSpPr>
        <p:spPr>
          <a:xfrm>
            <a:off x="5056632" y="2011680"/>
            <a:ext cx="274320" cy="182880"/>
          </a:xfrm>
          <a:prstGeom prst="rect">
            <a:avLst/>
          </a:prstGeom>
          <a:noFill/>
          <a:ln/>
        </p:spPr>
        <p:txBody>
          <a:bodyPr wrap="square" rtlCol="0" anchor="ctr"/>
          <a:lstStyle/>
          <a:p>
            <a:pPr marL="0" indent="0" algn="ctr">
              <a:buNone/>
            </a:pPr>
            <a:r>
              <a:rPr lang="en-US" sz="1000" dirty="0">
                <a:solidFill>
                  <a:srgbClr val="94A3B8"/>
                </a:solidFill>
              </a:rPr>
              <a:t>↓</a:t>
            </a:r>
            <a:endParaRPr lang="en-US" sz="1000" dirty="0"/>
          </a:p>
        </p:txBody>
      </p:sp>
      <p:sp>
        <p:nvSpPr>
          <p:cNvPr id="36" name="Shape 34"/>
          <p:cNvSpPr/>
          <p:nvPr/>
        </p:nvSpPr>
        <p:spPr>
          <a:xfrm>
            <a:off x="4800600" y="2157984"/>
            <a:ext cx="4114800" cy="749808"/>
          </a:xfrm>
          <a:prstGeom prst="rect">
            <a:avLst/>
          </a:prstGeom>
          <a:solidFill>
            <a:srgbClr val="FFFFFF"/>
          </a:solidFill>
          <a:ln w="6350">
            <a:solidFill>
              <a:srgbClr val="DDE3EA"/>
            </a:solidFill>
            <a:prstDash val="solid"/>
          </a:ln>
          <a:effectLst>
            <a:outerShdw blurRad="101600" dist="38100" dir="8100000" algn="bl" rotWithShape="0">
              <a:srgbClr val="000000">
                <a:alpha val="12000"/>
              </a:srgbClr>
            </a:outerShdw>
          </a:effectLst>
        </p:spPr>
        <p:txBody>
          <a:bodyPr/>
          <a:lstStyle/>
          <a:p>
            <a:endParaRPr lang="en-US"/>
          </a:p>
        </p:txBody>
      </p:sp>
      <p:sp>
        <p:nvSpPr>
          <p:cNvPr id="37" name="Shape 35"/>
          <p:cNvSpPr/>
          <p:nvPr/>
        </p:nvSpPr>
        <p:spPr>
          <a:xfrm>
            <a:off x="4910328" y="2313432"/>
            <a:ext cx="438912" cy="438912"/>
          </a:xfrm>
          <a:prstGeom prst="ellipse">
            <a:avLst/>
          </a:prstGeom>
          <a:solidFill>
            <a:srgbClr val="059669"/>
          </a:solidFill>
          <a:ln/>
        </p:spPr>
        <p:txBody>
          <a:bodyPr/>
          <a:lstStyle/>
          <a:p>
            <a:endParaRPr lang="en-US"/>
          </a:p>
        </p:txBody>
      </p:sp>
      <p:sp>
        <p:nvSpPr>
          <p:cNvPr id="38" name="Text 36"/>
          <p:cNvSpPr/>
          <p:nvPr/>
        </p:nvSpPr>
        <p:spPr>
          <a:xfrm>
            <a:off x="4910328" y="2313432"/>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rPr>
              <a:t>6</a:t>
            </a:r>
            <a:endParaRPr lang="en-US" sz="1300" dirty="0"/>
          </a:p>
        </p:txBody>
      </p:sp>
      <p:sp>
        <p:nvSpPr>
          <p:cNvPr id="39" name="Text 37"/>
          <p:cNvSpPr/>
          <p:nvPr/>
        </p:nvSpPr>
        <p:spPr>
          <a:xfrm>
            <a:off x="5458968" y="2249424"/>
            <a:ext cx="3337560" cy="274320"/>
          </a:xfrm>
          <a:prstGeom prst="rect">
            <a:avLst/>
          </a:prstGeom>
          <a:noFill/>
          <a:ln/>
        </p:spPr>
        <p:txBody>
          <a:bodyPr wrap="square" rtlCol="0" anchor="ctr"/>
          <a:lstStyle/>
          <a:p>
            <a:pPr marL="0" indent="0">
              <a:buNone/>
            </a:pPr>
            <a:r>
              <a:rPr lang="en-US" sz="1200" b="1" dirty="0">
                <a:solidFill>
                  <a:srgbClr val="334155"/>
                </a:solidFill>
              </a:rPr>
              <a:t>GPT generates answer</a:t>
            </a:r>
            <a:endParaRPr lang="en-US" sz="1200" dirty="0"/>
          </a:p>
        </p:txBody>
      </p:sp>
      <p:sp>
        <p:nvSpPr>
          <p:cNvPr id="40" name="Text 38"/>
          <p:cNvSpPr/>
          <p:nvPr/>
        </p:nvSpPr>
        <p:spPr>
          <a:xfrm>
            <a:off x="5458968" y="2560320"/>
            <a:ext cx="3337560" cy="256032"/>
          </a:xfrm>
          <a:prstGeom prst="rect">
            <a:avLst/>
          </a:prstGeom>
          <a:noFill/>
          <a:ln/>
        </p:spPr>
        <p:txBody>
          <a:bodyPr wrap="square" rtlCol="0" anchor="ctr"/>
          <a:lstStyle/>
          <a:p>
            <a:pPr marL="0" indent="0">
              <a:buNone/>
            </a:pPr>
            <a:r>
              <a:rPr lang="en-US" sz="1000" dirty="0">
                <a:solidFill>
                  <a:srgbClr val="94A3B8"/>
                </a:solidFill>
              </a:rPr>
              <a:t>Using ONLY the 4 retrieved chunks as context</a:t>
            </a:r>
            <a:endParaRPr lang="en-US" sz="1000" dirty="0"/>
          </a:p>
        </p:txBody>
      </p:sp>
      <p:sp>
        <p:nvSpPr>
          <p:cNvPr id="41" name="Text 39"/>
          <p:cNvSpPr/>
          <p:nvPr/>
        </p:nvSpPr>
        <p:spPr>
          <a:xfrm>
            <a:off x="5056632" y="2907792"/>
            <a:ext cx="274320" cy="182880"/>
          </a:xfrm>
          <a:prstGeom prst="rect">
            <a:avLst/>
          </a:prstGeom>
          <a:noFill/>
          <a:ln/>
        </p:spPr>
        <p:txBody>
          <a:bodyPr wrap="square" rtlCol="0" anchor="ctr"/>
          <a:lstStyle/>
          <a:p>
            <a:pPr marL="0" indent="0" algn="ctr">
              <a:buNone/>
            </a:pPr>
            <a:r>
              <a:rPr lang="en-US" sz="1000" dirty="0">
                <a:solidFill>
                  <a:srgbClr val="94A3B8"/>
                </a:solidFill>
              </a:rPr>
              <a:t>↓</a:t>
            </a:r>
            <a:endParaRPr lang="en-US" sz="1000" dirty="0"/>
          </a:p>
        </p:txBody>
      </p:sp>
      <p:sp>
        <p:nvSpPr>
          <p:cNvPr id="42" name="Shape 40"/>
          <p:cNvSpPr/>
          <p:nvPr/>
        </p:nvSpPr>
        <p:spPr>
          <a:xfrm>
            <a:off x="4800600" y="3054096"/>
            <a:ext cx="4114800" cy="749808"/>
          </a:xfrm>
          <a:prstGeom prst="rect">
            <a:avLst/>
          </a:prstGeom>
          <a:solidFill>
            <a:srgbClr val="FFFFFF"/>
          </a:solidFill>
          <a:ln w="6350">
            <a:solidFill>
              <a:srgbClr val="DDE3EA"/>
            </a:solidFill>
            <a:prstDash val="solid"/>
          </a:ln>
          <a:effectLst>
            <a:outerShdw blurRad="101600" dist="38100" dir="8100000" algn="bl" rotWithShape="0">
              <a:srgbClr val="000000">
                <a:alpha val="12000"/>
              </a:srgbClr>
            </a:outerShdw>
          </a:effectLst>
        </p:spPr>
        <p:txBody>
          <a:bodyPr/>
          <a:lstStyle/>
          <a:p>
            <a:endParaRPr lang="en-US"/>
          </a:p>
        </p:txBody>
      </p:sp>
      <p:sp>
        <p:nvSpPr>
          <p:cNvPr id="43" name="Shape 41"/>
          <p:cNvSpPr/>
          <p:nvPr/>
        </p:nvSpPr>
        <p:spPr>
          <a:xfrm>
            <a:off x="4910328" y="3209544"/>
            <a:ext cx="438912" cy="438912"/>
          </a:xfrm>
          <a:prstGeom prst="ellipse">
            <a:avLst/>
          </a:prstGeom>
          <a:solidFill>
            <a:srgbClr val="059669"/>
          </a:solidFill>
          <a:ln/>
        </p:spPr>
        <p:txBody>
          <a:bodyPr/>
          <a:lstStyle/>
          <a:p>
            <a:endParaRPr lang="en-US"/>
          </a:p>
        </p:txBody>
      </p:sp>
      <p:sp>
        <p:nvSpPr>
          <p:cNvPr id="44" name="Text 42"/>
          <p:cNvSpPr/>
          <p:nvPr/>
        </p:nvSpPr>
        <p:spPr>
          <a:xfrm>
            <a:off x="4910328" y="3209544"/>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rPr>
              <a:t>7</a:t>
            </a:r>
            <a:endParaRPr lang="en-US" sz="1300" dirty="0"/>
          </a:p>
        </p:txBody>
      </p:sp>
      <p:sp>
        <p:nvSpPr>
          <p:cNvPr id="45" name="Text 43"/>
          <p:cNvSpPr/>
          <p:nvPr/>
        </p:nvSpPr>
        <p:spPr>
          <a:xfrm>
            <a:off x="5458968" y="3145536"/>
            <a:ext cx="3337560" cy="274320"/>
          </a:xfrm>
          <a:prstGeom prst="rect">
            <a:avLst/>
          </a:prstGeom>
          <a:noFill/>
          <a:ln/>
        </p:spPr>
        <p:txBody>
          <a:bodyPr wrap="square" rtlCol="0" anchor="ctr"/>
          <a:lstStyle/>
          <a:p>
            <a:pPr marL="0" indent="0">
              <a:buNone/>
            </a:pPr>
            <a:r>
              <a:rPr lang="en-US" sz="1200" b="1" dirty="0">
                <a:solidFill>
                  <a:srgbClr val="334155"/>
                </a:solidFill>
              </a:rPr>
              <a:t>Answer displayed</a:t>
            </a:r>
            <a:endParaRPr lang="en-US" sz="1200" dirty="0"/>
          </a:p>
        </p:txBody>
      </p:sp>
      <p:sp>
        <p:nvSpPr>
          <p:cNvPr id="46" name="Text 44"/>
          <p:cNvSpPr/>
          <p:nvPr/>
        </p:nvSpPr>
        <p:spPr>
          <a:xfrm>
            <a:off x="5458968" y="3456432"/>
            <a:ext cx="3337560" cy="256032"/>
          </a:xfrm>
          <a:prstGeom prst="rect">
            <a:avLst/>
          </a:prstGeom>
          <a:noFill/>
          <a:ln/>
        </p:spPr>
        <p:txBody>
          <a:bodyPr wrap="square" rtlCol="0" anchor="ctr"/>
          <a:lstStyle/>
          <a:p>
            <a:pPr marL="0" indent="0">
              <a:buNone/>
            </a:pPr>
            <a:r>
              <a:rPr lang="en-US" sz="1000" dirty="0">
                <a:solidFill>
                  <a:srgbClr val="94A3B8"/>
                </a:solidFill>
              </a:rPr>
              <a:t>Streamed back to chat UI</a:t>
            </a:r>
            <a:endParaRPr lang="en-US" sz="1000" dirty="0"/>
          </a:p>
        </p:txBody>
      </p:sp>
    </p:spTree>
    <p:extLst>
      <p:ext uri="{BB962C8B-B14F-4D97-AF65-F5344CB8AC3E}">
        <p14:creationId xmlns:p14="http://schemas.microsoft.com/office/powerpoint/2010/main" val="2915076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228600"/>
            <a:ext cx="1371600" cy="256032"/>
          </a:xfrm>
          <a:prstGeom prst="roundRect">
            <a:avLst>
              <a:gd name="adj" fmla="val 21429"/>
            </a:avLst>
          </a:prstGeom>
          <a:solidFill>
            <a:srgbClr val="1A56DB"/>
          </a:solidFill>
          <a:ln/>
        </p:spPr>
        <p:txBody>
          <a:bodyPr/>
          <a:lstStyle/>
          <a:p>
            <a:endParaRPr lang="en-US"/>
          </a:p>
        </p:txBody>
      </p:sp>
      <p:sp>
        <p:nvSpPr>
          <p:cNvPr id="3" name="Text 1"/>
          <p:cNvSpPr/>
          <p:nvPr/>
        </p:nvSpPr>
        <p:spPr>
          <a:xfrm>
            <a:off x="365760" y="228600"/>
            <a:ext cx="1371600" cy="256032"/>
          </a:xfrm>
          <a:prstGeom prst="rect">
            <a:avLst/>
          </a:prstGeom>
          <a:noFill/>
          <a:ln/>
        </p:spPr>
        <p:txBody>
          <a:bodyPr wrap="square" lIns="0" tIns="0" rIns="0" bIns="0" rtlCol="0" anchor="ctr"/>
          <a:lstStyle/>
          <a:p>
            <a:pPr marL="0" indent="0" algn="ctr">
              <a:buNone/>
            </a:pPr>
            <a:r>
              <a:rPr lang="en-US" sz="800" b="1" dirty="0">
                <a:solidFill>
                  <a:srgbClr val="FFFFFF"/>
                </a:solidFill>
              </a:rPr>
              <a:t>KEY CONCEPT</a:t>
            </a:r>
            <a:endParaRPr lang="en-US" sz="800" dirty="0"/>
          </a:p>
        </p:txBody>
      </p:sp>
      <p:sp>
        <p:nvSpPr>
          <p:cNvPr id="4" name="Text 2"/>
          <p:cNvSpPr/>
          <p:nvPr/>
        </p:nvSpPr>
        <p:spPr>
          <a:xfrm>
            <a:off x="8321040" y="4846320"/>
            <a:ext cx="731520" cy="182880"/>
          </a:xfrm>
          <a:prstGeom prst="rect">
            <a:avLst/>
          </a:prstGeom>
          <a:noFill/>
          <a:ln/>
        </p:spPr>
        <p:txBody>
          <a:bodyPr wrap="square" rtlCol="0" anchor="ctr"/>
          <a:lstStyle/>
          <a:p>
            <a:pPr marL="0" indent="0" algn="r">
              <a:buNone/>
            </a:pPr>
            <a:r>
              <a:rPr lang="en-US" sz="900" dirty="0">
                <a:solidFill>
                  <a:srgbClr val="94A3B8"/>
                </a:solidFill>
              </a:rPr>
              <a:t>6 / 10</a:t>
            </a:r>
            <a:endParaRPr lang="en-US" sz="900" dirty="0"/>
          </a:p>
        </p:txBody>
      </p:sp>
      <p:sp>
        <p:nvSpPr>
          <p:cNvPr id="5" name="Text 3"/>
          <p:cNvSpPr/>
          <p:nvPr/>
        </p:nvSpPr>
        <p:spPr>
          <a:xfrm>
            <a:off x="365760" y="594360"/>
            <a:ext cx="8412480" cy="502920"/>
          </a:xfrm>
          <a:prstGeom prst="rect">
            <a:avLst/>
          </a:prstGeom>
          <a:noFill/>
          <a:ln/>
        </p:spPr>
        <p:txBody>
          <a:bodyPr wrap="square" rtlCol="0" anchor="ctr"/>
          <a:lstStyle/>
          <a:p>
            <a:pPr marL="0" indent="0">
              <a:buNone/>
            </a:pPr>
            <a:r>
              <a:rPr lang="en-US" sz="2800" b="1" dirty="0">
                <a:solidFill>
                  <a:srgbClr val="334155"/>
                </a:solidFill>
                <a:latin typeface="Calibri" pitchFamily="34" charset="0"/>
                <a:ea typeface="Calibri" pitchFamily="34" charset="-122"/>
                <a:cs typeface="Calibri" pitchFamily="34" charset="-120"/>
              </a:rPr>
              <a:t>FAISS vector search — how similarity works</a:t>
            </a:r>
            <a:endParaRPr lang="en-US" sz="2800" dirty="0"/>
          </a:p>
        </p:txBody>
      </p:sp>
      <p:sp>
        <p:nvSpPr>
          <p:cNvPr id="6" name="Text 4"/>
          <p:cNvSpPr/>
          <p:nvPr/>
        </p:nvSpPr>
        <p:spPr>
          <a:xfrm>
            <a:off x="365760" y="1234440"/>
            <a:ext cx="3931920" cy="548640"/>
          </a:xfrm>
          <a:prstGeom prst="rect">
            <a:avLst/>
          </a:prstGeom>
          <a:noFill/>
          <a:ln/>
        </p:spPr>
        <p:txBody>
          <a:bodyPr wrap="square" rtlCol="0" anchor="ctr"/>
          <a:lstStyle/>
          <a:p>
            <a:pPr marL="0" indent="0">
              <a:buNone/>
            </a:pPr>
            <a:r>
              <a:rPr lang="en-US" sz="1200" dirty="0">
                <a:solidFill>
                  <a:srgbClr val="334155"/>
                </a:solidFill>
              </a:rPr>
              <a:t>Each text chunk is converted into a list of numbers (a vector) that captures its meaning.</a:t>
            </a:r>
            <a:endParaRPr lang="en-US" sz="1200" dirty="0"/>
          </a:p>
        </p:txBody>
      </p:sp>
      <p:sp>
        <p:nvSpPr>
          <p:cNvPr id="7" name="Text 5"/>
          <p:cNvSpPr/>
          <p:nvPr/>
        </p:nvSpPr>
        <p:spPr>
          <a:xfrm>
            <a:off x="365760" y="1783080"/>
            <a:ext cx="3931920" cy="548640"/>
          </a:xfrm>
          <a:prstGeom prst="rect">
            <a:avLst/>
          </a:prstGeom>
          <a:noFill/>
          <a:ln/>
        </p:spPr>
        <p:txBody>
          <a:bodyPr wrap="square" rtlCol="0" anchor="ctr"/>
          <a:lstStyle/>
          <a:p>
            <a:pPr marL="0" indent="0">
              <a:buNone/>
            </a:pPr>
            <a:r>
              <a:rPr lang="en-US" sz="1200" dirty="0">
                <a:solidFill>
                  <a:srgbClr val="334155"/>
                </a:solidFill>
              </a:rPr>
              <a:t>FAISS finds which stored chunks have vectors closest to the question's vector using L2 (Euclidean) distance:</a:t>
            </a:r>
            <a:endParaRPr lang="en-US" sz="1200" dirty="0"/>
          </a:p>
        </p:txBody>
      </p:sp>
      <p:sp>
        <p:nvSpPr>
          <p:cNvPr id="8" name="Shape 6"/>
          <p:cNvSpPr/>
          <p:nvPr/>
        </p:nvSpPr>
        <p:spPr>
          <a:xfrm>
            <a:off x="365760" y="2423160"/>
            <a:ext cx="3931920" cy="640080"/>
          </a:xfrm>
          <a:prstGeom prst="rect">
            <a:avLst/>
          </a:prstGeom>
          <a:solidFill>
            <a:srgbClr val="F8F9FF"/>
          </a:solidFill>
          <a:ln w="6350">
            <a:solidFill>
              <a:srgbClr val="76A9FA"/>
            </a:solidFill>
            <a:prstDash val="solid"/>
          </a:ln>
          <a:effectLst>
            <a:outerShdw blurRad="101600" dist="38100" dir="8100000" algn="bl" rotWithShape="0">
              <a:srgbClr val="000000">
                <a:alpha val="12000"/>
              </a:srgbClr>
            </a:outerShdw>
          </a:effectLst>
        </p:spPr>
        <p:txBody>
          <a:bodyPr/>
          <a:lstStyle/>
          <a:p>
            <a:endParaRPr lang="en-US"/>
          </a:p>
        </p:txBody>
      </p:sp>
      <p:sp>
        <p:nvSpPr>
          <p:cNvPr id="9" name="Text 7"/>
          <p:cNvSpPr/>
          <p:nvPr/>
        </p:nvSpPr>
        <p:spPr>
          <a:xfrm>
            <a:off x="457200" y="2487168"/>
            <a:ext cx="3749040" cy="502920"/>
          </a:xfrm>
          <a:prstGeom prst="rect">
            <a:avLst/>
          </a:prstGeom>
          <a:noFill/>
          <a:ln/>
        </p:spPr>
        <p:txBody>
          <a:bodyPr wrap="square" rtlCol="0" anchor="ctr"/>
          <a:lstStyle/>
          <a:p>
            <a:pPr marL="0" indent="0" algn="ctr">
              <a:buNone/>
            </a:pPr>
            <a:r>
              <a:rPr lang="en-US" sz="1200" b="1" dirty="0">
                <a:solidFill>
                  <a:srgbClr val="1A56DB"/>
                </a:solidFill>
              </a:rPr>
              <a:t>d²  =  (q₁−v₁)²  +  (q₂−v₂)²  +  …  +  (qₙ−vₙ)²</a:t>
            </a:r>
            <a:endParaRPr lang="en-US" sz="1200" dirty="0"/>
          </a:p>
        </p:txBody>
      </p:sp>
      <p:sp>
        <p:nvSpPr>
          <p:cNvPr id="10" name="Text 8"/>
          <p:cNvSpPr/>
          <p:nvPr/>
        </p:nvSpPr>
        <p:spPr>
          <a:xfrm>
            <a:off x="365760" y="3154680"/>
            <a:ext cx="3931920" cy="320040"/>
          </a:xfrm>
          <a:prstGeom prst="rect">
            <a:avLst/>
          </a:prstGeom>
          <a:noFill/>
          <a:ln/>
        </p:spPr>
        <p:txBody>
          <a:bodyPr wrap="square" rtlCol="0" anchor="ctr"/>
          <a:lstStyle/>
          <a:p>
            <a:pPr marL="0" indent="0" algn="ctr">
              <a:buNone/>
            </a:pPr>
            <a:r>
              <a:rPr lang="en-US" sz="1100" dirty="0">
                <a:solidFill>
                  <a:srgbClr val="94A3B8"/>
                </a:solidFill>
              </a:rPr>
              <a:t>Small d² = similar meaning    |    Large d² = different topic</a:t>
            </a:r>
            <a:endParaRPr lang="en-US" sz="1100" dirty="0"/>
          </a:p>
        </p:txBody>
      </p:sp>
      <p:sp>
        <p:nvSpPr>
          <p:cNvPr id="11" name="Text 9"/>
          <p:cNvSpPr/>
          <p:nvPr/>
        </p:nvSpPr>
        <p:spPr>
          <a:xfrm>
            <a:off x="365760" y="3566160"/>
            <a:ext cx="3931920" cy="274320"/>
          </a:xfrm>
          <a:prstGeom prst="rect">
            <a:avLst/>
          </a:prstGeom>
          <a:noFill/>
          <a:ln/>
        </p:spPr>
        <p:txBody>
          <a:bodyPr wrap="square" rtlCol="0" anchor="ctr"/>
          <a:lstStyle/>
          <a:p>
            <a:pPr marL="0" indent="0">
              <a:buNone/>
            </a:pPr>
            <a:r>
              <a:rPr lang="en-US" sz="1100" b="1" dirty="0">
                <a:solidFill>
                  <a:srgbClr val="334155"/>
                </a:solidFill>
              </a:rPr>
              <a:t>The threshold check in code:</a:t>
            </a:r>
            <a:endParaRPr lang="en-US" sz="1100" dirty="0"/>
          </a:p>
        </p:txBody>
      </p:sp>
      <p:sp>
        <p:nvSpPr>
          <p:cNvPr id="12" name="Shape 10"/>
          <p:cNvSpPr/>
          <p:nvPr/>
        </p:nvSpPr>
        <p:spPr>
          <a:xfrm>
            <a:off x="365760" y="3886200"/>
            <a:ext cx="3931920" cy="594360"/>
          </a:xfrm>
          <a:prstGeom prst="rect">
            <a:avLst/>
          </a:prstGeom>
          <a:solidFill>
            <a:srgbClr val="0D1B2A"/>
          </a:solidFill>
          <a:ln w="6350">
            <a:solidFill>
              <a:srgbClr val="DDE3EA"/>
            </a:solidFill>
            <a:prstDash val="solid"/>
          </a:ln>
          <a:effectLst>
            <a:outerShdw blurRad="101600" dist="38100" dir="8100000" algn="bl" rotWithShape="0">
              <a:srgbClr val="000000">
                <a:alpha val="12000"/>
              </a:srgbClr>
            </a:outerShdw>
          </a:effectLst>
        </p:spPr>
        <p:txBody>
          <a:bodyPr/>
          <a:lstStyle/>
          <a:p>
            <a:endParaRPr lang="en-US"/>
          </a:p>
        </p:txBody>
      </p:sp>
      <p:sp>
        <p:nvSpPr>
          <p:cNvPr id="13" name="Text 11"/>
          <p:cNvSpPr/>
          <p:nvPr/>
        </p:nvSpPr>
        <p:spPr>
          <a:xfrm>
            <a:off x="457200" y="3931920"/>
            <a:ext cx="3749040" cy="502920"/>
          </a:xfrm>
          <a:prstGeom prst="rect">
            <a:avLst/>
          </a:prstGeom>
          <a:noFill/>
          <a:ln/>
        </p:spPr>
        <p:txBody>
          <a:bodyPr wrap="square" rtlCol="0" anchor="ctr"/>
          <a:lstStyle/>
          <a:p>
            <a:pPr marL="0" indent="0" algn="l">
              <a:buNone/>
            </a:pPr>
            <a:r>
              <a:rPr lang="en-US" sz="1200" dirty="0">
                <a:solidFill>
                  <a:srgbClr val="76A9FA"/>
                </a:solidFill>
                <a:latin typeface="Courier New" pitchFamily="34" charset="0"/>
                <a:ea typeface="Courier New" pitchFamily="34" charset="-122"/>
                <a:cs typeface="Courier New" pitchFamily="34" charset="-120"/>
              </a:rPr>
              <a:t>if score &gt; 2.0:  return 'I don’t know'</a:t>
            </a:r>
            <a:endParaRPr lang="en-US" sz="1200" dirty="0"/>
          </a:p>
        </p:txBody>
      </p:sp>
      <p:sp>
        <p:nvSpPr>
          <p:cNvPr id="14" name="Text 12"/>
          <p:cNvSpPr/>
          <p:nvPr/>
        </p:nvSpPr>
        <p:spPr>
          <a:xfrm>
            <a:off x="4663440" y="1234440"/>
            <a:ext cx="4114800" cy="274320"/>
          </a:xfrm>
          <a:prstGeom prst="rect">
            <a:avLst/>
          </a:prstGeom>
          <a:noFill/>
          <a:ln/>
        </p:spPr>
        <p:txBody>
          <a:bodyPr wrap="square" rtlCol="0" anchor="ctr"/>
          <a:lstStyle/>
          <a:p>
            <a:pPr marL="0" indent="0">
              <a:buNone/>
            </a:pPr>
            <a:r>
              <a:rPr lang="en-US" sz="1200" b="1" dirty="0">
                <a:solidFill>
                  <a:srgbClr val="334155"/>
                </a:solidFill>
              </a:rPr>
              <a:t>Score scale</a:t>
            </a:r>
            <a:endParaRPr lang="en-US" sz="1200" dirty="0"/>
          </a:p>
        </p:txBody>
      </p:sp>
      <p:sp>
        <p:nvSpPr>
          <p:cNvPr id="15" name="Shape 13"/>
          <p:cNvSpPr/>
          <p:nvPr/>
        </p:nvSpPr>
        <p:spPr>
          <a:xfrm>
            <a:off x="4663440" y="1645920"/>
            <a:ext cx="4114800" cy="658368"/>
          </a:xfrm>
          <a:prstGeom prst="rect">
            <a:avLst/>
          </a:prstGeom>
          <a:solidFill>
            <a:srgbClr val="FFFFFF"/>
          </a:solidFill>
          <a:ln w="6350">
            <a:solidFill>
              <a:srgbClr val="DDE3EA"/>
            </a:solidFill>
            <a:prstDash val="solid"/>
          </a:ln>
          <a:effectLst>
            <a:outerShdw blurRad="101600" dist="38100" dir="8100000" algn="bl" rotWithShape="0">
              <a:srgbClr val="000000">
                <a:alpha val="12000"/>
              </a:srgbClr>
            </a:outerShdw>
          </a:effectLst>
        </p:spPr>
        <p:txBody>
          <a:bodyPr/>
          <a:lstStyle/>
          <a:p>
            <a:endParaRPr lang="en-US"/>
          </a:p>
        </p:txBody>
      </p:sp>
      <p:sp>
        <p:nvSpPr>
          <p:cNvPr id="16" name="Shape 14"/>
          <p:cNvSpPr/>
          <p:nvPr/>
        </p:nvSpPr>
        <p:spPr>
          <a:xfrm>
            <a:off x="4663440" y="1645920"/>
            <a:ext cx="54864" cy="658368"/>
          </a:xfrm>
          <a:prstGeom prst="rect">
            <a:avLst/>
          </a:prstGeom>
          <a:solidFill>
            <a:srgbClr val="059669"/>
          </a:solidFill>
          <a:ln/>
        </p:spPr>
        <p:txBody>
          <a:bodyPr/>
          <a:lstStyle/>
          <a:p>
            <a:endParaRPr lang="en-US"/>
          </a:p>
        </p:txBody>
      </p:sp>
      <p:sp>
        <p:nvSpPr>
          <p:cNvPr id="17" name="Text 15"/>
          <p:cNvSpPr/>
          <p:nvPr/>
        </p:nvSpPr>
        <p:spPr>
          <a:xfrm>
            <a:off x="4800600" y="1700784"/>
            <a:ext cx="914400" cy="274320"/>
          </a:xfrm>
          <a:prstGeom prst="rect">
            <a:avLst/>
          </a:prstGeom>
          <a:noFill/>
          <a:ln/>
        </p:spPr>
        <p:txBody>
          <a:bodyPr wrap="square" rtlCol="0" anchor="ctr"/>
          <a:lstStyle/>
          <a:p>
            <a:pPr marL="0" indent="0">
              <a:buNone/>
            </a:pPr>
            <a:r>
              <a:rPr lang="en-US" sz="1300" b="1" dirty="0">
                <a:solidFill>
                  <a:srgbClr val="059669"/>
                </a:solidFill>
                <a:latin typeface="Calibri" pitchFamily="34" charset="0"/>
                <a:ea typeface="Calibri" pitchFamily="34" charset="-122"/>
                <a:cs typeface="Calibri" pitchFamily="34" charset="-120"/>
              </a:rPr>
              <a:t>d² = 0.03</a:t>
            </a:r>
            <a:endParaRPr lang="en-US" sz="1300" dirty="0"/>
          </a:p>
        </p:txBody>
      </p:sp>
      <p:sp>
        <p:nvSpPr>
          <p:cNvPr id="18" name="Text 16"/>
          <p:cNvSpPr/>
          <p:nvPr/>
        </p:nvSpPr>
        <p:spPr>
          <a:xfrm>
            <a:off x="5760720" y="1700784"/>
            <a:ext cx="2834640" cy="256032"/>
          </a:xfrm>
          <a:prstGeom prst="rect">
            <a:avLst/>
          </a:prstGeom>
          <a:noFill/>
          <a:ln/>
        </p:spPr>
        <p:txBody>
          <a:bodyPr wrap="square" rtlCol="0" anchor="ctr"/>
          <a:lstStyle/>
          <a:p>
            <a:pPr marL="0" indent="0">
              <a:buNone/>
            </a:pPr>
            <a:r>
              <a:rPr lang="en-US" sz="1100" b="1" dirty="0">
                <a:solidFill>
                  <a:srgbClr val="334155"/>
                </a:solidFill>
              </a:rPr>
              <a:t>"When do exams start?"</a:t>
            </a:r>
            <a:endParaRPr lang="en-US" sz="1100" dirty="0"/>
          </a:p>
        </p:txBody>
      </p:sp>
      <p:sp>
        <p:nvSpPr>
          <p:cNvPr id="19" name="Text 17"/>
          <p:cNvSpPr/>
          <p:nvPr/>
        </p:nvSpPr>
        <p:spPr>
          <a:xfrm>
            <a:off x="5760720" y="1993392"/>
            <a:ext cx="2834640" cy="237744"/>
          </a:xfrm>
          <a:prstGeom prst="rect">
            <a:avLst/>
          </a:prstGeom>
          <a:noFill/>
          <a:ln/>
        </p:spPr>
        <p:txBody>
          <a:bodyPr wrap="square" rtlCol="0" anchor="ctr"/>
          <a:lstStyle/>
          <a:p>
            <a:pPr marL="0" indent="0">
              <a:buNone/>
            </a:pPr>
            <a:r>
              <a:rPr lang="en-US" sz="1000" dirty="0">
                <a:solidFill>
                  <a:srgbClr val="94A3B8"/>
                </a:solidFill>
              </a:rPr>
              <a:t>Perfect match — answer it</a:t>
            </a:r>
            <a:endParaRPr lang="en-US" sz="1000" dirty="0"/>
          </a:p>
        </p:txBody>
      </p:sp>
      <p:sp>
        <p:nvSpPr>
          <p:cNvPr id="20" name="Shape 18"/>
          <p:cNvSpPr/>
          <p:nvPr/>
        </p:nvSpPr>
        <p:spPr>
          <a:xfrm>
            <a:off x="4663440" y="2450592"/>
            <a:ext cx="4114800" cy="658368"/>
          </a:xfrm>
          <a:prstGeom prst="rect">
            <a:avLst/>
          </a:prstGeom>
          <a:solidFill>
            <a:srgbClr val="FFFFFF"/>
          </a:solidFill>
          <a:ln w="6350">
            <a:solidFill>
              <a:srgbClr val="DDE3EA"/>
            </a:solidFill>
            <a:prstDash val="solid"/>
          </a:ln>
          <a:effectLst>
            <a:outerShdw blurRad="101600" dist="38100" dir="8100000" algn="bl" rotWithShape="0">
              <a:srgbClr val="000000">
                <a:alpha val="12000"/>
              </a:srgbClr>
            </a:outerShdw>
          </a:effectLst>
        </p:spPr>
        <p:txBody>
          <a:bodyPr/>
          <a:lstStyle/>
          <a:p>
            <a:endParaRPr lang="en-US"/>
          </a:p>
        </p:txBody>
      </p:sp>
      <p:sp>
        <p:nvSpPr>
          <p:cNvPr id="21" name="Shape 19"/>
          <p:cNvSpPr/>
          <p:nvPr/>
        </p:nvSpPr>
        <p:spPr>
          <a:xfrm>
            <a:off x="4663440" y="2450592"/>
            <a:ext cx="54864" cy="658368"/>
          </a:xfrm>
          <a:prstGeom prst="rect">
            <a:avLst/>
          </a:prstGeom>
          <a:solidFill>
            <a:srgbClr val="059669"/>
          </a:solidFill>
          <a:ln/>
        </p:spPr>
        <p:txBody>
          <a:bodyPr/>
          <a:lstStyle/>
          <a:p>
            <a:endParaRPr lang="en-US"/>
          </a:p>
        </p:txBody>
      </p:sp>
      <p:sp>
        <p:nvSpPr>
          <p:cNvPr id="22" name="Text 20"/>
          <p:cNvSpPr/>
          <p:nvPr/>
        </p:nvSpPr>
        <p:spPr>
          <a:xfrm>
            <a:off x="4800600" y="2505456"/>
            <a:ext cx="914400" cy="274320"/>
          </a:xfrm>
          <a:prstGeom prst="rect">
            <a:avLst/>
          </a:prstGeom>
          <a:noFill/>
          <a:ln/>
        </p:spPr>
        <p:txBody>
          <a:bodyPr wrap="square" rtlCol="0" anchor="ctr"/>
          <a:lstStyle/>
          <a:p>
            <a:pPr marL="0" indent="0">
              <a:buNone/>
            </a:pPr>
            <a:r>
              <a:rPr lang="en-US" sz="1300" b="1" dirty="0">
                <a:solidFill>
                  <a:srgbClr val="059669"/>
                </a:solidFill>
                <a:latin typeface="Calibri" pitchFamily="34" charset="0"/>
                <a:ea typeface="Calibri" pitchFamily="34" charset="-122"/>
                <a:cs typeface="Calibri" pitchFamily="34" charset="-120"/>
              </a:rPr>
              <a:t>d² = 0.85</a:t>
            </a:r>
            <a:endParaRPr lang="en-US" sz="1300" dirty="0"/>
          </a:p>
        </p:txBody>
      </p:sp>
      <p:sp>
        <p:nvSpPr>
          <p:cNvPr id="23" name="Text 21"/>
          <p:cNvSpPr/>
          <p:nvPr/>
        </p:nvSpPr>
        <p:spPr>
          <a:xfrm>
            <a:off x="5760720" y="2505456"/>
            <a:ext cx="2834640" cy="256032"/>
          </a:xfrm>
          <a:prstGeom prst="rect">
            <a:avLst/>
          </a:prstGeom>
          <a:noFill/>
          <a:ln/>
        </p:spPr>
        <p:txBody>
          <a:bodyPr wrap="square" rtlCol="0" anchor="ctr"/>
          <a:lstStyle/>
          <a:p>
            <a:pPr marL="0" indent="0">
              <a:buNone/>
            </a:pPr>
            <a:r>
              <a:rPr lang="en-US" sz="1100" b="1" dirty="0">
                <a:solidFill>
                  <a:srgbClr val="334155"/>
                </a:solidFill>
              </a:rPr>
              <a:t>"How to reset password?"</a:t>
            </a:r>
            <a:endParaRPr lang="en-US" sz="1100" dirty="0"/>
          </a:p>
        </p:txBody>
      </p:sp>
      <p:sp>
        <p:nvSpPr>
          <p:cNvPr id="24" name="Text 22"/>
          <p:cNvSpPr/>
          <p:nvPr/>
        </p:nvSpPr>
        <p:spPr>
          <a:xfrm>
            <a:off x="5760720" y="2798064"/>
            <a:ext cx="2834640" cy="237744"/>
          </a:xfrm>
          <a:prstGeom prst="rect">
            <a:avLst/>
          </a:prstGeom>
          <a:noFill/>
          <a:ln/>
        </p:spPr>
        <p:txBody>
          <a:bodyPr wrap="square" rtlCol="0" anchor="ctr"/>
          <a:lstStyle/>
          <a:p>
            <a:pPr marL="0" indent="0">
              <a:buNone/>
            </a:pPr>
            <a:r>
              <a:rPr lang="en-US" sz="1000" dirty="0">
                <a:solidFill>
                  <a:srgbClr val="94A3B8"/>
                </a:solidFill>
              </a:rPr>
              <a:t>Good match — answer it</a:t>
            </a:r>
            <a:endParaRPr lang="en-US" sz="1000" dirty="0"/>
          </a:p>
        </p:txBody>
      </p:sp>
      <p:sp>
        <p:nvSpPr>
          <p:cNvPr id="25" name="Shape 23"/>
          <p:cNvSpPr/>
          <p:nvPr/>
        </p:nvSpPr>
        <p:spPr>
          <a:xfrm>
            <a:off x="4663440" y="3255264"/>
            <a:ext cx="4114800" cy="658368"/>
          </a:xfrm>
          <a:prstGeom prst="rect">
            <a:avLst/>
          </a:prstGeom>
          <a:solidFill>
            <a:srgbClr val="FFFFFF"/>
          </a:solidFill>
          <a:ln w="6350">
            <a:solidFill>
              <a:srgbClr val="DDE3EA"/>
            </a:solidFill>
            <a:prstDash val="solid"/>
          </a:ln>
          <a:effectLst>
            <a:outerShdw blurRad="101600" dist="38100" dir="8100000" algn="bl" rotWithShape="0">
              <a:srgbClr val="000000">
                <a:alpha val="12000"/>
              </a:srgbClr>
            </a:outerShdw>
          </a:effectLst>
        </p:spPr>
        <p:txBody>
          <a:bodyPr/>
          <a:lstStyle/>
          <a:p>
            <a:endParaRPr lang="en-US"/>
          </a:p>
        </p:txBody>
      </p:sp>
      <p:sp>
        <p:nvSpPr>
          <p:cNvPr id="26" name="Shape 24"/>
          <p:cNvSpPr/>
          <p:nvPr/>
        </p:nvSpPr>
        <p:spPr>
          <a:xfrm>
            <a:off x="4663440" y="3255264"/>
            <a:ext cx="54864" cy="658368"/>
          </a:xfrm>
          <a:prstGeom prst="rect">
            <a:avLst/>
          </a:prstGeom>
          <a:solidFill>
            <a:srgbClr val="D97706"/>
          </a:solidFill>
          <a:ln/>
        </p:spPr>
        <p:txBody>
          <a:bodyPr/>
          <a:lstStyle/>
          <a:p>
            <a:endParaRPr lang="en-US"/>
          </a:p>
        </p:txBody>
      </p:sp>
      <p:sp>
        <p:nvSpPr>
          <p:cNvPr id="27" name="Text 25"/>
          <p:cNvSpPr/>
          <p:nvPr/>
        </p:nvSpPr>
        <p:spPr>
          <a:xfrm>
            <a:off x="4800600" y="3310128"/>
            <a:ext cx="914400" cy="274320"/>
          </a:xfrm>
          <a:prstGeom prst="rect">
            <a:avLst/>
          </a:prstGeom>
          <a:noFill/>
          <a:ln/>
        </p:spPr>
        <p:txBody>
          <a:bodyPr wrap="square" rtlCol="0" anchor="ctr"/>
          <a:lstStyle/>
          <a:p>
            <a:pPr marL="0" indent="0">
              <a:buNone/>
            </a:pPr>
            <a:r>
              <a:rPr lang="en-US" sz="1300" b="1" dirty="0">
                <a:solidFill>
                  <a:srgbClr val="D97706"/>
                </a:solidFill>
                <a:latin typeface="Calibri" pitchFamily="34" charset="0"/>
                <a:ea typeface="Calibri" pitchFamily="34" charset="-122"/>
                <a:cs typeface="Calibri" pitchFamily="34" charset="-120"/>
              </a:rPr>
              <a:t>d² = 1.70</a:t>
            </a:r>
            <a:endParaRPr lang="en-US" sz="1300" dirty="0"/>
          </a:p>
        </p:txBody>
      </p:sp>
      <p:sp>
        <p:nvSpPr>
          <p:cNvPr id="28" name="Text 26"/>
          <p:cNvSpPr/>
          <p:nvPr/>
        </p:nvSpPr>
        <p:spPr>
          <a:xfrm>
            <a:off x="5760720" y="3310128"/>
            <a:ext cx="2834640" cy="256032"/>
          </a:xfrm>
          <a:prstGeom prst="rect">
            <a:avLst/>
          </a:prstGeom>
          <a:noFill/>
          <a:ln/>
        </p:spPr>
        <p:txBody>
          <a:bodyPr wrap="square" rtlCol="0" anchor="ctr"/>
          <a:lstStyle/>
          <a:p>
            <a:pPr marL="0" indent="0">
              <a:buNone/>
            </a:pPr>
            <a:r>
              <a:rPr lang="en-US" sz="1100" b="1" dirty="0">
                <a:solidFill>
                  <a:srgbClr val="334155"/>
                </a:solidFill>
              </a:rPr>
              <a:t>"Mensa open Sundays?"</a:t>
            </a:r>
            <a:endParaRPr lang="en-US" sz="1100" dirty="0"/>
          </a:p>
        </p:txBody>
      </p:sp>
      <p:sp>
        <p:nvSpPr>
          <p:cNvPr id="29" name="Text 27"/>
          <p:cNvSpPr/>
          <p:nvPr/>
        </p:nvSpPr>
        <p:spPr>
          <a:xfrm>
            <a:off x="5760720" y="3602736"/>
            <a:ext cx="2834640" cy="237744"/>
          </a:xfrm>
          <a:prstGeom prst="rect">
            <a:avLst/>
          </a:prstGeom>
          <a:noFill/>
          <a:ln/>
        </p:spPr>
        <p:txBody>
          <a:bodyPr wrap="square" rtlCol="0" anchor="ctr"/>
          <a:lstStyle/>
          <a:p>
            <a:pPr marL="0" indent="0">
              <a:buNone/>
            </a:pPr>
            <a:r>
              <a:rPr lang="en-US" sz="1000" dirty="0">
                <a:solidFill>
                  <a:srgbClr val="94A3B8"/>
                </a:solidFill>
              </a:rPr>
              <a:t>Borderline — GPT fallback applies</a:t>
            </a:r>
            <a:endParaRPr lang="en-US" sz="1000" dirty="0"/>
          </a:p>
        </p:txBody>
      </p:sp>
      <p:sp>
        <p:nvSpPr>
          <p:cNvPr id="30" name="Shape 28"/>
          <p:cNvSpPr/>
          <p:nvPr/>
        </p:nvSpPr>
        <p:spPr>
          <a:xfrm>
            <a:off x="4663440" y="4059936"/>
            <a:ext cx="4114800" cy="658368"/>
          </a:xfrm>
          <a:prstGeom prst="rect">
            <a:avLst/>
          </a:prstGeom>
          <a:solidFill>
            <a:srgbClr val="FFFFFF"/>
          </a:solidFill>
          <a:ln w="6350">
            <a:solidFill>
              <a:srgbClr val="DDE3EA"/>
            </a:solidFill>
            <a:prstDash val="solid"/>
          </a:ln>
          <a:effectLst>
            <a:outerShdw blurRad="101600" dist="38100" dir="8100000" algn="bl" rotWithShape="0">
              <a:srgbClr val="000000">
                <a:alpha val="12000"/>
              </a:srgbClr>
            </a:outerShdw>
          </a:effectLst>
        </p:spPr>
        <p:txBody>
          <a:bodyPr/>
          <a:lstStyle/>
          <a:p>
            <a:endParaRPr lang="en-US"/>
          </a:p>
        </p:txBody>
      </p:sp>
      <p:sp>
        <p:nvSpPr>
          <p:cNvPr id="31" name="Shape 29"/>
          <p:cNvSpPr/>
          <p:nvPr/>
        </p:nvSpPr>
        <p:spPr>
          <a:xfrm>
            <a:off x="4663440" y="4059936"/>
            <a:ext cx="54864" cy="658368"/>
          </a:xfrm>
          <a:prstGeom prst="rect">
            <a:avLst/>
          </a:prstGeom>
          <a:solidFill>
            <a:srgbClr val="DC2626"/>
          </a:solidFill>
          <a:ln/>
        </p:spPr>
        <p:txBody>
          <a:bodyPr/>
          <a:lstStyle/>
          <a:p>
            <a:endParaRPr lang="en-US"/>
          </a:p>
        </p:txBody>
      </p:sp>
      <p:sp>
        <p:nvSpPr>
          <p:cNvPr id="32" name="Text 30"/>
          <p:cNvSpPr/>
          <p:nvPr/>
        </p:nvSpPr>
        <p:spPr>
          <a:xfrm>
            <a:off x="4800600" y="4114800"/>
            <a:ext cx="914400" cy="274320"/>
          </a:xfrm>
          <a:prstGeom prst="rect">
            <a:avLst/>
          </a:prstGeom>
          <a:noFill/>
          <a:ln/>
        </p:spPr>
        <p:txBody>
          <a:bodyPr wrap="square" rtlCol="0" anchor="ctr"/>
          <a:lstStyle/>
          <a:p>
            <a:pPr marL="0" indent="0">
              <a:buNone/>
            </a:pPr>
            <a:r>
              <a:rPr lang="en-US" sz="1300" b="1" dirty="0">
                <a:solidFill>
                  <a:srgbClr val="DC2626"/>
                </a:solidFill>
                <a:latin typeface="Calibri" pitchFamily="34" charset="0"/>
                <a:ea typeface="Calibri" pitchFamily="34" charset="-122"/>
                <a:cs typeface="Calibri" pitchFamily="34" charset="-120"/>
              </a:rPr>
              <a:t>d² = 2.40</a:t>
            </a:r>
            <a:endParaRPr lang="en-US" sz="1300" dirty="0"/>
          </a:p>
        </p:txBody>
      </p:sp>
      <p:sp>
        <p:nvSpPr>
          <p:cNvPr id="33" name="Text 31"/>
          <p:cNvSpPr/>
          <p:nvPr/>
        </p:nvSpPr>
        <p:spPr>
          <a:xfrm>
            <a:off x="5760720" y="4114800"/>
            <a:ext cx="2834640" cy="256032"/>
          </a:xfrm>
          <a:prstGeom prst="rect">
            <a:avLst/>
          </a:prstGeom>
          <a:noFill/>
          <a:ln/>
        </p:spPr>
        <p:txBody>
          <a:bodyPr wrap="square" rtlCol="0" anchor="ctr"/>
          <a:lstStyle/>
          <a:p>
            <a:pPr marL="0" indent="0">
              <a:buNone/>
            </a:pPr>
            <a:r>
              <a:rPr lang="en-US" sz="1100" b="1" dirty="0">
                <a:solidFill>
                  <a:srgbClr val="334155"/>
                </a:solidFill>
              </a:rPr>
              <a:t>"Who won World Cup?"</a:t>
            </a:r>
            <a:endParaRPr lang="en-US" sz="1100" dirty="0"/>
          </a:p>
        </p:txBody>
      </p:sp>
      <p:sp>
        <p:nvSpPr>
          <p:cNvPr id="34" name="Text 32"/>
          <p:cNvSpPr/>
          <p:nvPr/>
        </p:nvSpPr>
        <p:spPr>
          <a:xfrm>
            <a:off x="5760720" y="4407408"/>
            <a:ext cx="2834640" cy="237744"/>
          </a:xfrm>
          <a:prstGeom prst="rect">
            <a:avLst/>
          </a:prstGeom>
          <a:noFill/>
          <a:ln/>
        </p:spPr>
        <p:txBody>
          <a:bodyPr wrap="square" rtlCol="0" anchor="ctr"/>
          <a:lstStyle/>
          <a:p>
            <a:pPr marL="0" indent="0">
              <a:buNone/>
            </a:pPr>
            <a:r>
              <a:rPr lang="en-US" sz="1000" dirty="0">
                <a:solidFill>
                  <a:srgbClr val="94A3B8"/>
                </a:solidFill>
              </a:rPr>
              <a:t>No match — refuse instantly</a:t>
            </a:r>
            <a:endParaRPr lang="en-US" sz="1000" dirty="0"/>
          </a:p>
        </p:txBody>
      </p:sp>
    </p:spTree>
    <p:extLst>
      <p:ext uri="{BB962C8B-B14F-4D97-AF65-F5344CB8AC3E}">
        <p14:creationId xmlns:p14="http://schemas.microsoft.com/office/powerpoint/2010/main" val="3481555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228600"/>
            <a:ext cx="1371600" cy="256032"/>
          </a:xfrm>
          <a:prstGeom prst="roundRect">
            <a:avLst>
              <a:gd name="adj" fmla="val 21429"/>
            </a:avLst>
          </a:prstGeom>
          <a:solidFill>
            <a:srgbClr val="1A56DB"/>
          </a:solidFill>
          <a:ln/>
        </p:spPr>
        <p:txBody>
          <a:bodyPr/>
          <a:lstStyle/>
          <a:p>
            <a:endParaRPr lang="en-US"/>
          </a:p>
        </p:txBody>
      </p:sp>
      <p:sp>
        <p:nvSpPr>
          <p:cNvPr id="3" name="Text 1"/>
          <p:cNvSpPr/>
          <p:nvPr/>
        </p:nvSpPr>
        <p:spPr>
          <a:xfrm>
            <a:off x="365760" y="228600"/>
            <a:ext cx="1371600" cy="256032"/>
          </a:xfrm>
          <a:prstGeom prst="rect">
            <a:avLst/>
          </a:prstGeom>
          <a:noFill/>
          <a:ln/>
        </p:spPr>
        <p:txBody>
          <a:bodyPr wrap="square" lIns="0" tIns="0" rIns="0" bIns="0" rtlCol="0" anchor="ctr"/>
          <a:lstStyle/>
          <a:p>
            <a:pPr marL="0" indent="0" algn="ctr">
              <a:buNone/>
            </a:pPr>
            <a:r>
              <a:rPr lang="en-US" sz="800" b="1" dirty="0">
                <a:solidFill>
                  <a:srgbClr val="FFFFFF"/>
                </a:solidFill>
              </a:rPr>
              <a:t>KEY DESIGN</a:t>
            </a:r>
            <a:endParaRPr lang="en-US" sz="800" dirty="0"/>
          </a:p>
        </p:txBody>
      </p:sp>
      <p:sp>
        <p:nvSpPr>
          <p:cNvPr id="4" name="Text 2"/>
          <p:cNvSpPr/>
          <p:nvPr/>
        </p:nvSpPr>
        <p:spPr>
          <a:xfrm>
            <a:off x="8321040" y="4846320"/>
            <a:ext cx="731520" cy="182880"/>
          </a:xfrm>
          <a:prstGeom prst="rect">
            <a:avLst/>
          </a:prstGeom>
          <a:noFill/>
          <a:ln/>
        </p:spPr>
        <p:txBody>
          <a:bodyPr wrap="square" rtlCol="0" anchor="ctr"/>
          <a:lstStyle/>
          <a:p>
            <a:pPr marL="0" indent="0" algn="r">
              <a:buNone/>
            </a:pPr>
            <a:r>
              <a:rPr lang="en-US" sz="900" dirty="0">
                <a:solidFill>
                  <a:srgbClr val="94A3B8"/>
                </a:solidFill>
              </a:rPr>
              <a:t>7 / 10</a:t>
            </a:r>
            <a:endParaRPr lang="en-US" sz="900" dirty="0"/>
          </a:p>
        </p:txBody>
      </p:sp>
      <p:sp>
        <p:nvSpPr>
          <p:cNvPr id="5" name="Text 3"/>
          <p:cNvSpPr/>
          <p:nvPr/>
        </p:nvSpPr>
        <p:spPr>
          <a:xfrm>
            <a:off x="365760" y="594360"/>
            <a:ext cx="8412480" cy="502920"/>
          </a:xfrm>
          <a:prstGeom prst="rect">
            <a:avLst/>
          </a:prstGeom>
          <a:noFill/>
          <a:ln/>
        </p:spPr>
        <p:txBody>
          <a:bodyPr wrap="square" rtlCol="0" anchor="ctr"/>
          <a:lstStyle/>
          <a:p>
            <a:pPr marL="0" indent="0">
              <a:buNone/>
            </a:pPr>
            <a:r>
              <a:rPr lang="en-US" sz="3000" b="1" dirty="0">
                <a:solidFill>
                  <a:srgbClr val="334155"/>
                </a:solidFill>
                <a:latin typeface="Calibri" pitchFamily="34" charset="0"/>
                <a:ea typeface="Calibri" pitchFamily="34" charset="-122"/>
                <a:cs typeface="Calibri" pitchFamily="34" charset="-120"/>
              </a:rPr>
              <a:t>Two layers of hallucination prevention</a:t>
            </a:r>
            <a:endParaRPr lang="en-US" sz="3000" dirty="0"/>
          </a:p>
        </p:txBody>
      </p:sp>
      <p:sp>
        <p:nvSpPr>
          <p:cNvPr id="6" name="Shape 4"/>
          <p:cNvSpPr/>
          <p:nvPr/>
        </p:nvSpPr>
        <p:spPr>
          <a:xfrm>
            <a:off x="365760" y="1261872"/>
            <a:ext cx="8412480" cy="1463040"/>
          </a:xfrm>
          <a:prstGeom prst="rect">
            <a:avLst/>
          </a:prstGeom>
          <a:solidFill>
            <a:srgbClr val="FFFFFF"/>
          </a:solidFill>
          <a:ln w="6350">
            <a:solidFill>
              <a:srgbClr val="DDE3EA"/>
            </a:solidFill>
            <a:prstDash val="solid"/>
          </a:ln>
          <a:effectLst>
            <a:outerShdw blurRad="101600" dist="38100" dir="8100000" algn="bl" rotWithShape="0">
              <a:srgbClr val="000000">
                <a:alpha val="12000"/>
              </a:srgbClr>
            </a:outerShdw>
          </a:effectLst>
        </p:spPr>
        <p:txBody>
          <a:bodyPr/>
          <a:lstStyle/>
          <a:p>
            <a:endParaRPr lang="en-US"/>
          </a:p>
        </p:txBody>
      </p:sp>
      <p:sp>
        <p:nvSpPr>
          <p:cNvPr id="7" name="Shape 5"/>
          <p:cNvSpPr/>
          <p:nvPr/>
        </p:nvSpPr>
        <p:spPr>
          <a:xfrm>
            <a:off x="365760" y="1261872"/>
            <a:ext cx="54864" cy="1463040"/>
          </a:xfrm>
          <a:prstGeom prst="rect">
            <a:avLst/>
          </a:prstGeom>
          <a:solidFill>
            <a:srgbClr val="1A56DB"/>
          </a:solidFill>
          <a:ln/>
        </p:spPr>
        <p:txBody>
          <a:bodyPr/>
          <a:lstStyle/>
          <a:p>
            <a:endParaRPr lang="en-US"/>
          </a:p>
        </p:txBody>
      </p:sp>
      <p:sp>
        <p:nvSpPr>
          <p:cNvPr id="8" name="Text 6"/>
          <p:cNvSpPr/>
          <p:nvPr/>
        </p:nvSpPr>
        <p:spPr>
          <a:xfrm>
            <a:off x="594360" y="1371600"/>
            <a:ext cx="7955280" cy="320040"/>
          </a:xfrm>
          <a:prstGeom prst="rect">
            <a:avLst/>
          </a:prstGeom>
          <a:noFill/>
          <a:ln/>
        </p:spPr>
        <p:txBody>
          <a:bodyPr wrap="square" rtlCol="0" anchor="ctr"/>
          <a:lstStyle/>
          <a:p>
            <a:pPr marL="0" indent="0">
              <a:buNone/>
            </a:pPr>
            <a:r>
              <a:rPr lang="en-US" sz="1400" b="1" dirty="0">
                <a:solidFill>
                  <a:srgbClr val="1A56DB"/>
                </a:solidFill>
              </a:rPr>
              <a:t>Layer 1 — FAISS Distance Threshold</a:t>
            </a:r>
            <a:endParaRPr lang="en-US" sz="1400" dirty="0"/>
          </a:p>
        </p:txBody>
      </p:sp>
      <p:sp>
        <p:nvSpPr>
          <p:cNvPr id="9" name="Text 7"/>
          <p:cNvSpPr/>
          <p:nvPr/>
        </p:nvSpPr>
        <p:spPr>
          <a:xfrm>
            <a:off x="594360" y="1719072"/>
            <a:ext cx="7955280" cy="777240"/>
          </a:xfrm>
          <a:prstGeom prst="rect">
            <a:avLst/>
          </a:prstGeom>
          <a:noFill/>
          <a:ln/>
        </p:spPr>
        <p:txBody>
          <a:bodyPr wrap="square" rtlCol="0" anchor="ctr"/>
          <a:lstStyle/>
          <a:p>
            <a:pPr marL="0" indent="0">
              <a:buNone/>
            </a:pPr>
            <a:r>
              <a:rPr lang="en-US" sz="1200" dirty="0">
                <a:solidFill>
                  <a:srgbClr val="334155"/>
                </a:solidFill>
              </a:rPr>
              <a:t>Before GPT is ever called, the distance score is checked. If score &gt; 2.0, the function returns the fallback message immediately and GPT is never called. This is the fastest and most reliable safety gate — it costs zero API tokens.</a:t>
            </a:r>
            <a:endParaRPr lang="en-US" sz="1200" dirty="0"/>
          </a:p>
        </p:txBody>
      </p:sp>
      <p:sp>
        <p:nvSpPr>
          <p:cNvPr id="10" name="Shape 8"/>
          <p:cNvSpPr/>
          <p:nvPr/>
        </p:nvSpPr>
        <p:spPr>
          <a:xfrm>
            <a:off x="365760" y="2907792"/>
            <a:ext cx="8412480" cy="1463040"/>
          </a:xfrm>
          <a:prstGeom prst="rect">
            <a:avLst/>
          </a:prstGeom>
          <a:solidFill>
            <a:srgbClr val="FFFFFF"/>
          </a:solidFill>
          <a:ln w="6350">
            <a:solidFill>
              <a:srgbClr val="DDE3EA"/>
            </a:solidFill>
            <a:prstDash val="solid"/>
          </a:ln>
          <a:effectLst>
            <a:outerShdw blurRad="101600" dist="38100" dir="8100000" algn="bl" rotWithShape="0">
              <a:srgbClr val="000000">
                <a:alpha val="12000"/>
              </a:srgbClr>
            </a:outerShdw>
          </a:effectLst>
        </p:spPr>
        <p:txBody>
          <a:bodyPr/>
          <a:lstStyle/>
          <a:p>
            <a:endParaRPr lang="en-US"/>
          </a:p>
        </p:txBody>
      </p:sp>
      <p:sp>
        <p:nvSpPr>
          <p:cNvPr id="11" name="Shape 9"/>
          <p:cNvSpPr/>
          <p:nvPr/>
        </p:nvSpPr>
        <p:spPr>
          <a:xfrm>
            <a:off x="365760" y="2907792"/>
            <a:ext cx="54864" cy="1463040"/>
          </a:xfrm>
          <a:prstGeom prst="rect">
            <a:avLst/>
          </a:prstGeom>
          <a:solidFill>
            <a:srgbClr val="059669"/>
          </a:solidFill>
          <a:ln/>
        </p:spPr>
        <p:txBody>
          <a:bodyPr/>
          <a:lstStyle/>
          <a:p>
            <a:endParaRPr lang="en-US"/>
          </a:p>
        </p:txBody>
      </p:sp>
      <p:sp>
        <p:nvSpPr>
          <p:cNvPr id="12" name="Text 10"/>
          <p:cNvSpPr/>
          <p:nvPr/>
        </p:nvSpPr>
        <p:spPr>
          <a:xfrm>
            <a:off x="594360" y="3017520"/>
            <a:ext cx="7955280" cy="320040"/>
          </a:xfrm>
          <a:prstGeom prst="rect">
            <a:avLst/>
          </a:prstGeom>
          <a:noFill/>
          <a:ln/>
        </p:spPr>
        <p:txBody>
          <a:bodyPr wrap="square" rtlCol="0" anchor="ctr"/>
          <a:lstStyle/>
          <a:p>
            <a:pPr marL="0" indent="0">
              <a:buNone/>
            </a:pPr>
            <a:r>
              <a:rPr lang="en-US" sz="1400" b="1" dirty="0">
                <a:solidFill>
                  <a:srgbClr val="059669"/>
                </a:solidFill>
              </a:rPr>
              <a:t>Layer 2 — GPT System Prompt Constraint</a:t>
            </a:r>
            <a:endParaRPr lang="en-US" sz="1400" dirty="0"/>
          </a:p>
        </p:txBody>
      </p:sp>
      <p:sp>
        <p:nvSpPr>
          <p:cNvPr id="13" name="Text 11"/>
          <p:cNvSpPr/>
          <p:nvPr/>
        </p:nvSpPr>
        <p:spPr>
          <a:xfrm>
            <a:off x="594360" y="3364992"/>
            <a:ext cx="7955280" cy="777240"/>
          </a:xfrm>
          <a:prstGeom prst="rect">
            <a:avLst/>
          </a:prstGeom>
          <a:noFill/>
          <a:ln/>
        </p:spPr>
        <p:txBody>
          <a:bodyPr wrap="square" rtlCol="0" anchor="ctr"/>
          <a:lstStyle/>
          <a:p>
            <a:pPr marL="0" indent="0">
              <a:buNone/>
            </a:pPr>
            <a:r>
              <a:rPr lang="en-US" sz="1200" dirty="0">
                <a:solidFill>
                  <a:srgbClr val="334155"/>
                </a:solidFill>
              </a:rPr>
              <a:t>Even when GPT is called, the system prompt instructs it: "Answer using ONLY the provided context. If the answer is not clearly in the context, say you couldn’t find it." This handles borderline cases where the score passes but the retrieved chunks don’t actually contain the answer.</a:t>
            </a:r>
            <a:endParaRPr lang="en-US" sz="1200" dirty="0"/>
          </a:p>
        </p:txBody>
      </p:sp>
      <p:sp>
        <p:nvSpPr>
          <p:cNvPr id="14" name="Shape 12"/>
          <p:cNvSpPr/>
          <p:nvPr/>
        </p:nvSpPr>
        <p:spPr>
          <a:xfrm>
            <a:off x="365760" y="4553712"/>
            <a:ext cx="8412480" cy="411480"/>
          </a:xfrm>
          <a:prstGeom prst="rect">
            <a:avLst/>
          </a:prstGeom>
          <a:solidFill>
            <a:srgbClr val="EFF6FF"/>
          </a:solidFill>
          <a:ln w="6350">
            <a:solidFill>
              <a:srgbClr val="76A9FA"/>
            </a:solidFill>
            <a:prstDash val="solid"/>
          </a:ln>
          <a:effectLst>
            <a:outerShdw blurRad="101600" dist="38100" dir="8100000" algn="bl" rotWithShape="0">
              <a:srgbClr val="000000">
                <a:alpha val="12000"/>
              </a:srgbClr>
            </a:outerShdw>
          </a:effectLst>
        </p:spPr>
        <p:txBody>
          <a:bodyPr/>
          <a:lstStyle/>
          <a:p>
            <a:endParaRPr lang="en-US"/>
          </a:p>
        </p:txBody>
      </p:sp>
      <p:sp>
        <p:nvSpPr>
          <p:cNvPr id="15" name="Text 13"/>
          <p:cNvSpPr/>
          <p:nvPr/>
        </p:nvSpPr>
        <p:spPr>
          <a:xfrm>
            <a:off x="548640" y="4572000"/>
            <a:ext cx="8046720" cy="365760"/>
          </a:xfrm>
          <a:prstGeom prst="rect">
            <a:avLst/>
          </a:prstGeom>
          <a:noFill/>
          <a:ln/>
        </p:spPr>
        <p:txBody>
          <a:bodyPr wrap="square" rtlCol="0" anchor="ctr"/>
          <a:lstStyle/>
          <a:p>
            <a:pPr marL="0" indent="0" algn="ctr">
              <a:buNone/>
            </a:pPr>
            <a:r>
              <a:rPr lang="en-US" sz="1200" b="1" dirty="0">
                <a:solidFill>
                  <a:srgbClr val="1A56DB"/>
                </a:solidFill>
              </a:rPr>
              <a:t>Result: GPT answers ONLY from real HAW web content — it cannot invent university-specific details</a:t>
            </a:r>
            <a:endParaRPr lang="en-US" sz="1200" dirty="0"/>
          </a:p>
        </p:txBody>
      </p:sp>
    </p:spTree>
    <p:extLst>
      <p:ext uri="{BB962C8B-B14F-4D97-AF65-F5344CB8AC3E}">
        <p14:creationId xmlns:p14="http://schemas.microsoft.com/office/powerpoint/2010/main" val="17905564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228600"/>
            <a:ext cx="1371600" cy="256032"/>
          </a:xfrm>
          <a:prstGeom prst="roundRect">
            <a:avLst>
              <a:gd name="adj" fmla="val 21429"/>
            </a:avLst>
          </a:prstGeom>
          <a:solidFill>
            <a:srgbClr val="1A56DB"/>
          </a:solidFill>
          <a:ln/>
        </p:spPr>
        <p:txBody>
          <a:bodyPr/>
          <a:lstStyle/>
          <a:p>
            <a:endParaRPr lang="en-US"/>
          </a:p>
        </p:txBody>
      </p:sp>
      <p:sp>
        <p:nvSpPr>
          <p:cNvPr id="3" name="Text 1"/>
          <p:cNvSpPr/>
          <p:nvPr/>
        </p:nvSpPr>
        <p:spPr>
          <a:xfrm>
            <a:off x="365760" y="228600"/>
            <a:ext cx="1371600" cy="256032"/>
          </a:xfrm>
          <a:prstGeom prst="rect">
            <a:avLst/>
          </a:prstGeom>
          <a:noFill/>
          <a:ln/>
        </p:spPr>
        <p:txBody>
          <a:bodyPr wrap="square" lIns="0" tIns="0" rIns="0" bIns="0" rtlCol="0" anchor="ctr"/>
          <a:lstStyle/>
          <a:p>
            <a:pPr marL="0" indent="0" algn="ctr">
              <a:buNone/>
            </a:pPr>
            <a:r>
              <a:rPr lang="en-US" sz="800" b="1" dirty="0">
                <a:solidFill>
                  <a:srgbClr val="FFFFFF"/>
                </a:solidFill>
              </a:rPr>
              <a:t>DATA FILES</a:t>
            </a:r>
            <a:endParaRPr lang="en-US" sz="800" dirty="0"/>
          </a:p>
        </p:txBody>
      </p:sp>
      <p:sp>
        <p:nvSpPr>
          <p:cNvPr id="4" name="Text 2"/>
          <p:cNvSpPr/>
          <p:nvPr/>
        </p:nvSpPr>
        <p:spPr>
          <a:xfrm>
            <a:off x="8321040" y="4846320"/>
            <a:ext cx="731520" cy="182880"/>
          </a:xfrm>
          <a:prstGeom prst="rect">
            <a:avLst/>
          </a:prstGeom>
          <a:noFill/>
          <a:ln/>
        </p:spPr>
        <p:txBody>
          <a:bodyPr wrap="square" rtlCol="0" anchor="ctr"/>
          <a:lstStyle/>
          <a:p>
            <a:pPr marL="0" indent="0" algn="r">
              <a:buNone/>
            </a:pPr>
            <a:r>
              <a:rPr lang="en-US" sz="900" dirty="0">
                <a:solidFill>
                  <a:srgbClr val="94A3B8"/>
                </a:solidFill>
              </a:rPr>
              <a:t>8 / 10</a:t>
            </a:r>
            <a:endParaRPr lang="en-US" sz="900" dirty="0"/>
          </a:p>
        </p:txBody>
      </p:sp>
      <p:sp>
        <p:nvSpPr>
          <p:cNvPr id="5" name="Text 3"/>
          <p:cNvSpPr/>
          <p:nvPr/>
        </p:nvSpPr>
        <p:spPr>
          <a:xfrm>
            <a:off x="365760" y="594360"/>
            <a:ext cx="8412480" cy="502920"/>
          </a:xfrm>
          <a:prstGeom prst="rect">
            <a:avLst/>
          </a:prstGeom>
          <a:noFill/>
          <a:ln/>
        </p:spPr>
        <p:txBody>
          <a:bodyPr wrap="square" rtlCol="0" anchor="ctr"/>
          <a:lstStyle/>
          <a:p>
            <a:pPr marL="0" indent="0">
              <a:buNone/>
            </a:pPr>
            <a:r>
              <a:rPr lang="en-US" sz="3000" b="1" dirty="0">
                <a:solidFill>
                  <a:srgbClr val="334155"/>
                </a:solidFill>
                <a:latin typeface="Calibri" pitchFamily="34" charset="0"/>
                <a:ea typeface="Calibri" pitchFamily="34" charset="-122"/>
                <a:cs typeface="Calibri" pitchFamily="34" charset="-120"/>
              </a:rPr>
              <a:t>The 7 data files and what each one does</a:t>
            </a:r>
            <a:endParaRPr lang="en-US" sz="3000" dirty="0"/>
          </a:p>
        </p:txBody>
      </p:sp>
      <p:sp>
        <p:nvSpPr>
          <p:cNvPr id="6" name="Shape 4"/>
          <p:cNvSpPr/>
          <p:nvPr/>
        </p:nvSpPr>
        <p:spPr>
          <a:xfrm>
            <a:off x="365760" y="1261872"/>
            <a:ext cx="8412480" cy="438912"/>
          </a:xfrm>
          <a:prstGeom prst="rect">
            <a:avLst/>
          </a:prstGeom>
          <a:solidFill>
            <a:srgbClr val="FFFFFF"/>
          </a:solidFill>
          <a:ln w="6350">
            <a:solidFill>
              <a:srgbClr val="DDE3EA"/>
            </a:solidFill>
            <a:prstDash val="solid"/>
          </a:ln>
          <a:effectLst>
            <a:outerShdw blurRad="101600" dist="38100" dir="8100000" algn="bl" rotWithShape="0">
              <a:srgbClr val="000000">
                <a:alpha val="12000"/>
              </a:srgbClr>
            </a:outerShdw>
          </a:effectLst>
        </p:spPr>
        <p:txBody>
          <a:bodyPr/>
          <a:lstStyle/>
          <a:p>
            <a:endParaRPr lang="en-US"/>
          </a:p>
        </p:txBody>
      </p:sp>
      <p:sp>
        <p:nvSpPr>
          <p:cNvPr id="7" name="Shape 5"/>
          <p:cNvSpPr/>
          <p:nvPr/>
        </p:nvSpPr>
        <p:spPr>
          <a:xfrm>
            <a:off x="365760" y="1261872"/>
            <a:ext cx="54864" cy="438912"/>
          </a:xfrm>
          <a:prstGeom prst="rect">
            <a:avLst/>
          </a:prstGeom>
          <a:solidFill>
            <a:srgbClr val="334155"/>
          </a:solidFill>
          <a:ln/>
        </p:spPr>
        <p:txBody>
          <a:bodyPr/>
          <a:lstStyle/>
          <a:p>
            <a:endParaRPr lang="en-US"/>
          </a:p>
        </p:txBody>
      </p:sp>
      <p:sp>
        <p:nvSpPr>
          <p:cNvPr id="8" name="Text 6"/>
          <p:cNvSpPr/>
          <p:nvPr/>
        </p:nvSpPr>
        <p:spPr>
          <a:xfrm>
            <a:off x="566928" y="1344168"/>
            <a:ext cx="2834640" cy="274320"/>
          </a:xfrm>
          <a:prstGeom prst="rect">
            <a:avLst/>
          </a:prstGeom>
          <a:noFill/>
          <a:ln/>
        </p:spPr>
        <p:txBody>
          <a:bodyPr wrap="square" rtlCol="0" anchor="ctr"/>
          <a:lstStyle/>
          <a:p>
            <a:pPr marL="0" indent="0">
              <a:buNone/>
            </a:pPr>
            <a:r>
              <a:rPr lang="en-US" sz="1100" b="1" dirty="0">
                <a:solidFill>
                  <a:srgbClr val="334155"/>
                </a:solidFill>
                <a:latin typeface="Courier New" pitchFamily="34" charset="0"/>
                <a:ea typeface="Courier New" pitchFamily="34" charset="-122"/>
                <a:cs typeface="Courier New" pitchFamily="34" charset="-120"/>
              </a:rPr>
              <a:t>haw_kb.json</a:t>
            </a:r>
            <a:endParaRPr lang="en-US" sz="1100" dirty="0"/>
          </a:p>
        </p:txBody>
      </p:sp>
      <p:sp>
        <p:nvSpPr>
          <p:cNvPr id="9" name="Text 7"/>
          <p:cNvSpPr/>
          <p:nvPr/>
        </p:nvSpPr>
        <p:spPr>
          <a:xfrm>
            <a:off x="3520440" y="1344168"/>
            <a:ext cx="5120640" cy="274320"/>
          </a:xfrm>
          <a:prstGeom prst="rect">
            <a:avLst/>
          </a:prstGeom>
          <a:noFill/>
          <a:ln/>
        </p:spPr>
        <p:txBody>
          <a:bodyPr wrap="square" rtlCol="0" anchor="ctr"/>
          <a:lstStyle/>
          <a:p>
            <a:pPr marL="0" indent="0">
              <a:buNone/>
            </a:pPr>
            <a:r>
              <a:rPr lang="en-US" sz="1100" dirty="0">
                <a:solidFill>
                  <a:srgbClr val="334155"/>
                </a:solidFill>
              </a:rPr>
              <a:t>Raw scraped text — mixed EN/DE, 26 chunks</a:t>
            </a:r>
            <a:endParaRPr lang="en-US" sz="1100" dirty="0"/>
          </a:p>
        </p:txBody>
      </p:sp>
      <p:sp>
        <p:nvSpPr>
          <p:cNvPr id="10" name="Shape 8"/>
          <p:cNvSpPr/>
          <p:nvPr/>
        </p:nvSpPr>
        <p:spPr>
          <a:xfrm>
            <a:off x="365760" y="1764792"/>
            <a:ext cx="8412480" cy="438912"/>
          </a:xfrm>
          <a:prstGeom prst="rect">
            <a:avLst/>
          </a:prstGeom>
          <a:solidFill>
            <a:srgbClr val="F8FAFC"/>
          </a:solidFill>
          <a:ln w="6350">
            <a:solidFill>
              <a:srgbClr val="DDE3EA"/>
            </a:solidFill>
            <a:prstDash val="solid"/>
          </a:ln>
          <a:effectLst>
            <a:outerShdw blurRad="101600" dist="38100" dir="8100000" algn="bl" rotWithShape="0">
              <a:srgbClr val="000000">
                <a:alpha val="12000"/>
              </a:srgbClr>
            </a:outerShdw>
          </a:effectLst>
        </p:spPr>
        <p:txBody>
          <a:bodyPr/>
          <a:lstStyle/>
          <a:p>
            <a:endParaRPr lang="en-US"/>
          </a:p>
        </p:txBody>
      </p:sp>
      <p:sp>
        <p:nvSpPr>
          <p:cNvPr id="11" name="Shape 9"/>
          <p:cNvSpPr/>
          <p:nvPr/>
        </p:nvSpPr>
        <p:spPr>
          <a:xfrm>
            <a:off x="365760" y="1764792"/>
            <a:ext cx="54864" cy="438912"/>
          </a:xfrm>
          <a:prstGeom prst="rect">
            <a:avLst/>
          </a:prstGeom>
          <a:solidFill>
            <a:srgbClr val="1A56DB"/>
          </a:solidFill>
          <a:ln/>
        </p:spPr>
        <p:txBody>
          <a:bodyPr/>
          <a:lstStyle/>
          <a:p>
            <a:endParaRPr lang="en-US"/>
          </a:p>
        </p:txBody>
      </p:sp>
      <p:sp>
        <p:nvSpPr>
          <p:cNvPr id="12" name="Text 10"/>
          <p:cNvSpPr/>
          <p:nvPr/>
        </p:nvSpPr>
        <p:spPr>
          <a:xfrm>
            <a:off x="566928" y="1847088"/>
            <a:ext cx="2834640" cy="274320"/>
          </a:xfrm>
          <a:prstGeom prst="rect">
            <a:avLst/>
          </a:prstGeom>
          <a:noFill/>
          <a:ln/>
        </p:spPr>
        <p:txBody>
          <a:bodyPr wrap="square" rtlCol="0" anchor="ctr"/>
          <a:lstStyle/>
          <a:p>
            <a:pPr marL="0" indent="0">
              <a:buNone/>
            </a:pPr>
            <a:r>
              <a:rPr lang="en-US" sz="1100" b="1" dirty="0">
                <a:solidFill>
                  <a:srgbClr val="1A56DB"/>
                </a:solidFill>
                <a:latin typeface="Courier New" pitchFamily="34" charset="0"/>
                <a:ea typeface="Courier New" pitchFamily="34" charset="-122"/>
                <a:cs typeface="Courier New" pitchFamily="34" charset="-120"/>
              </a:rPr>
              <a:t>haw_kb_en.json</a:t>
            </a:r>
            <a:endParaRPr lang="en-US" sz="1100" dirty="0"/>
          </a:p>
        </p:txBody>
      </p:sp>
      <p:sp>
        <p:nvSpPr>
          <p:cNvPr id="13" name="Text 11"/>
          <p:cNvSpPr/>
          <p:nvPr/>
        </p:nvSpPr>
        <p:spPr>
          <a:xfrm>
            <a:off x="3520440" y="1847088"/>
            <a:ext cx="5120640" cy="274320"/>
          </a:xfrm>
          <a:prstGeom prst="rect">
            <a:avLst/>
          </a:prstGeom>
          <a:noFill/>
          <a:ln/>
        </p:spPr>
        <p:txBody>
          <a:bodyPr wrap="square" rtlCol="0" anchor="ctr"/>
          <a:lstStyle/>
          <a:p>
            <a:pPr marL="0" indent="0">
              <a:buNone/>
            </a:pPr>
            <a:r>
              <a:rPr lang="en-US" sz="1100" dirty="0">
                <a:solidFill>
                  <a:srgbClr val="334155"/>
                </a:solidFill>
              </a:rPr>
              <a:t>All 26 chunks translated to English</a:t>
            </a:r>
            <a:endParaRPr lang="en-US" sz="1100" dirty="0"/>
          </a:p>
        </p:txBody>
      </p:sp>
      <p:sp>
        <p:nvSpPr>
          <p:cNvPr id="14" name="Shape 12"/>
          <p:cNvSpPr/>
          <p:nvPr/>
        </p:nvSpPr>
        <p:spPr>
          <a:xfrm>
            <a:off x="365760" y="2267712"/>
            <a:ext cx="8412480" cy="438912"/>
          </a:xfrm>
          <a:prstGeom prst="rect">
            <a:avLst/>
          </a:prstGeom>
          <a:solidFill>
            <a:srgbClr val="FFFFFF"/>
          </a:solidFill>
          <a:ln w="6350">
            <a:solidFill>
              <a:srgbClr val="DDE3EA"/>
            </a:solidFill>
            <a:prstDash val="solid"/>
          </a:ln>
          <a:effectLst>
            <a:outerShdw blurRad="101600" dist="38100" dir="8100000" algn="bl" rotWithShape="0">
              <a:srgbClr val="000000">
                <a:alpha val="12000"/>
              </a:srgbClr>
            </a:outerShdw>
          </a:effectLst>
        </p:spPr>
        <p:txBody>
          <a:bodyPr/>
          <a:lstStyle/>
          <a:p>
            <a:endParaRPr lang="en-US"/>
          </a:p>
        </p:txBody>
      </p:sp>
      <p:sp>
        <p:nvSpPr>
          <p:cNvPr id="15" name="Shape 13"/>
          <p:cNvSpPr/>
          <p:nvPr/>
        </p:nvSpPr>
        <p:spPr>
          <a:xfrm>
            <a:off x="365760" y="2267712"/>
            <a:ext cx="54864" cy="438912"/>
          </a:xfrm>
          <a:prstGeom prst="rect">
            <a:avLst/>
          </a:prstGeom>
          <a:solidFill>
            <a:srgbClr val="1A56DB"/>
          </a:solidFill>
          <a:ln/>
        </p:spPr>
        <p:txBody>
          <a:bodyPr/>
          <a:lstStyle/>
          <a:p>
            <a:endParaRPr lang="en-US"/>
          </a:p>
        </p:txBody>
      </p:sp>
      <p:sp>
        <p:nvSpPr>
          <p:cNvPr id="16" name="Text 14"/>
          <p:cNvSpPr/>
          <p:nvPr/>
        </p:nvSpPr>
        <p:spPr>
          <a:xfrm>
            <a:off x="566928" y="2350008"/>
            <a:ext cx="2834640" cy="274320"/>
          </a:xfrm>
          <a:prstGeom prst="rect">
            <a:avLst/>
          </a:prstGeom>
          <a:noFill/>
          <a:ln/>
        </p:spPr>
        <p:txBody>
          <a:bodyPr wrap="square" rtlCol="0" anchor="ctr"/>
          <a:lstStyle/>
          <a:p>
            <a:pPr marL="0" indent="0">
              <a:buNone/>
            </a:pPr>
            <a:r>
              <a:rPr lang="en-US" sz="1100" b="1" dirty="0">
                <a:solidFill>
                  <a:srgbClr val="1A56DB"/>
                </a:solidFill>
                <a:latin typeface="Courier New" pitchFamily="34" charset="0"/>
                <a:ea typeface="Courier New" pitchFamily="34" charset="-122"/>
                <a:cs typeface="Courier New" pitchFamily="34" charset="-120"/>
              </a:rPr>
              <a:t>haw_kb_de.json</a:t>
            </a:r>
            <a:endParaRPr lang="en-US" sz="1100" dirty="0"/>
          </a:p>
        </p:txBody>
      </p:sp>
      <p:sp>
        <p:nvSpPr>
          <p:cNvPr id="17" name="Text 15"/>
          <p:cNvSpPr/>
          <p:nvPr/>
        </p:nvSpPr>
        <p:spPr>
          <a:xfrm>
            <a:off x="3520440" y="2350008"/>
            <a:ext cx="5120640" cy="274320"/>
          </a:xfrm>
          <a:prstGeom prst="rect">
            <a:avLst/>
          </a:prstGeom>
          <a:noFill/>
          <a:ln/>
        </p:spPr>
        <p:txBody>
          <a:bodyPr wrap="square" rtlCol="0" anchor="ctr"/>
          <a:lstStyle/>
          <a:p>
            <a:pPr marL="0" indent="0">
              <a:buNone/>
            </a:pPr>
            <a:r>
              <a:rPr lang="en-US" sz="1100" dirty="0">
                <a:solidFill>
                  <a:srgbClr val="334155"/>
                </a:solidFill>
              </a:rPr>
              <a:t>All 26 chunks translated to German</a:t>
            </a:r>
            <a:endParaRPr lang="en-US" sz="1100" dirty="0"/>
          </a:p>
        </p:txBody>
      </p:sp>
      <p:sp>
        <p:nvSpPr>
          <p:cNvPr id="18" name="Shape 16"/>
          <p:cNvSpPr/>
          <p:nvPr/>
        </p:nvSpPr>
        <p:spPr>
          <a:xfrm>
            <a:off x="365760" y="2770632"/>
            <a:ext cx="8412480" cy="438912"/>
          </a:xfrm>
          <a:prstGeom prst="rect">
            <a:avLst/>
          </a:prstGeom>
          <a:solidFill>
            <a:srgbClr val="F8FAFC"/>
          </a:solidFill>
          <a:ln w="6350">
            <a:solidFill>
              <a:srgbClr val="DDE3EA"/>
            </a:solidFill>
            <a:prstDash val="solid"/>
          </a:ln>
          <a:effectLst>
            <a:outerShdw blurRad="101600" dist="38100" dir="8100000" algn="bl" rotWithShape="0">
              <a:srgbClr val="000000">
                <a:alpha val="12000"/>
              </a:srgbClr>
            </a:outerShdw>
          </a:effectLst>
        </p:spPr>
        <p:txBody>
          <a:bodyPr/>
          <a:lstStyle/>
          <a:p>
            <a:endParaRPr lang="en-US"/>
          </a:p>
        </p:txBody>
      </p:sp>
      <p:sp>
        <p:nvSpPr>
          <p:cNvPr id="19" name="Shape 17"/>
          <p:cNvSpPr/>
          <p:nvPr/>
        </p:nvSpPr>
        <p:spPr>
          <a:xfrm>
            <a:off x="365760" y="2770632"/>
            <a:ext cx="54864" cy="438912"/>
          </a:xfrm>
          <a:prstGeom prst="rect">
            <a:avLst/>
          </a:prstGeom>
          <a:solidFill>
            <a:srgbClr val="059669"/>
          </a:solidFill>
          <a:ln/>
        </p:spPr>
        <p:txBody>
          <a:bodyPr/>
          <a:lstStyle/>
          <a:p>
            <a:endParaRPr lang="en-US"/>
          </a:p>
        </p:txBody>
      </p:sp>
      <p:sp>
        <p:nvSpPr>
          <p:cNvPr id="20" name="Text 18"/>
          <p:cNvSpPr/>
          <p:nvPr/>
        </p:nvSpPr>
        <p:spPr>
          <a:xfrm>
            <a:off x="566928" y="2852928"/>
            <a:ext cx="2834640" cy="274320"/>
          </a:xfrm>
          <a:prstGeom prst="rect">
            <a:avLst/>
          </a:prstGeom>
          <a:noFill/>
          <a:ln/>
        </p:spPr>
        <p:txBody>
          <a:bodyPr wrap="square" rtlCol="0" anchor="ctr"/>
          <a:lstStyle/>
          <a:p>
            <a:pPr marL="0" indent="0">
              <a:buNone/>
            </a:pPr>
            <a:r>
              <a:rPr lang="en-US" sz="1100" b="1" dirty="0">
                <a:solidFill>
                  <a:srgbClr val="059669"/>
                </a:solidFill>
                <a:latin typeface="Courier New" pitchFamily="34" charset="0"/>
                <a:ea typeface="Courier New" pitchFamily="34" charset="-122"/>
                <a:cs typeface="Courier New" pitchFamily="34" charset="-120"/>
              </a:rPr>
              <a:t>haw_kb_en.index</a:t>
            </a:r>
            <a:endParaRPr lang="en-US" sz="1100" dirty="0"/>
          </a:p>
        </p:txBody>
      </p:sp>
      <p:sp>
        <p:nvSpPr>
          <p:cNvPr id="21" name="Text 19"/>
          <p:cNvSpPr/>
          <p:nvPr/>
        </p:nvSpPr>
        <p:spPr>
          <a:xfrm>
            <a:off x="3520440" y="2852928"/>
            <a:ext cx="5120640" cy="274320"/>
          </a:xfrm>
          <a:prstGeom prst="rect">
            <a:avLst/>
          </a:prstGeom>
          <a:noFill/>
          <a:ln/>
        </p:spPr>
        <p:txBody>
          <a:bodyPr wrap="square" rtlCol="0" anchor="ctr"/>
          <a:lstStyle/>
          <a:p>
            <a:pPr marL="0" indent="0">
              <a:buNone/>
            </a:pPr>
            <a:r>
              <a:rPr lang="en-US" sz="1100" dirty="0">
                <a:solidFill>
                  <a:srgbClr val="334155"/>
                </a:solidFill>
              </a:rPr>
              <a:t>FAISS binary index — English vector search</a:t>
            </a:r>
            <a:endParaRPr lang="en-US" sz="1100" dirty="0"/>
          </a:p>
        </p:txBody>
      </p:sp>
      <p:sp>
        <p:nvSpPr>
          <p:cNvPr id="22" name="Shape 20"/>
          <p:cNvSpPr/>
          <p:nvPr/>
        </p:nvSpPr>
        <p:spPr>
          <a:xfrm>
            <a:off x="365760" y="3273552"/>
            <a:ext cx="8412480" cy="438912"/>
          </a:xfrm>
          <a:prstGeom prst="rect">
            <a:avLst/>
          </a:prstGeom>
          <a:solidFill>
            <a:srgbClr val="FFFFFF"/>
          </a:solidFill>
          <a:ln w="6350">
            <a:solidFill>
              <a:srgbClr val="DDE3EA"/>
            </a:solidFill>
            <a:prstDash val="solid"/>
          </a:ln>
          <a:effectLst>
            <a:outerShdw blurRad="101600" dist="38100" dir="8100000" algn="bl" rotWithShape="0">
              <a:srgbClr val="000000">
                <a:alpha val="12000"/>
              </a:srgbClr>
            </a:outerShdw>
          </a:effectLst>
        </p:spPr>
        <p:txBody>
          <a:bodyPr/>
          <a:lstStyle/>
          <a:p>
            <a:endParaRPr lang="en-US"/>
          </a:p>
        </p:txBody>
      </p:sp>
      <p:sp>
        <p:nvSpPr>
          <p:cNvPr id="23" name="Shape 21"/>
          <p:cNvSpPr/>
          <p:nvPr/>
        </p:nvSpPr>
        <p:spPr>
          <a:xfrm>
            <a:off x="365760" y="3273552"/>
            <a:ext cx="54864" cy="438912"/>
          </a:xfrm>
          <a:prstGeom prst="rect">
            <a:avLst/>
          </a:prstGeom>
          <a:solidFill>
            <a:srgbClr val="059669"/>
          </a:solidFill>
          <a:ln/>
        </p:spPr>
        <p:txBody>
          <a:bodyPr/>
          <a:lstStyle/>
          <a:p>
            <a:endParaRPr lang="en-US"/>
          </a:p>
        </p:txBody>
      </p:sp>
      <p:sp>
        <p:nvSpPr>
          <p:cNvPr id="24" name="Text 22"/>
          <p:cNvSpPr/>
          <p:nvPr/>
        </p:nvSpPr>
        <p:spPr>
          <a:xfrm>
            <a:off x="566928" y="3355848"/>
            <a:ext cx="2834640" cy="274320"/>
          </a:xfrm>
          <a:prstGeom prst="rect">
            <a:avLst/>
          </a:prstGeom>
          <a:noFill/>
          <a:ln/>
        </p:spPr>
        <p:txBody>
          <a:bodyPr wrap="square" rtlCol="0" anchor="ctr"/>
          <a:lstStyle/>
          <a:p>
            <a:pPr marL="0" indent="0">
              <a:buNone/>
            </a:pPr>
            <a:r>
              <a:rPr lang="en-US" sz="1100" b="1" dirty="0">
                <a:solidFill>
                  <a:srgbClr val="059669"/>
                </a:solidFill>
                <a:latin typeface="Courier New" pitchFamily="34" charset="0"/>
                <a:ea typeface="Courier New" pitchFamily="34" charset="-122"/>
                <a:cs typeface="Courier New" pitchFamily="34" charset="-120"/>
              </a:rPr>
              <a:t>haw_kb_de.index</a:t>
            </a:r>
            <a:endParaRPr lang="en-US" sz="1100" dirty="0"/>
          </a:p>
        </p:txBody>
      </p:sp>
      <p:sp>
        <p:nvSpPr>
          <p:cNvPr id="25" name="Text 23"/>
          <p:cNvSpPr/>
          <p:nvPr/>
        </p:nvSpPr>
        <p:spPr>
          <a:xfrm>
            <a:off x="3520440" y="3355848"/>
            <a:ext cx="5120640" cy="274320"/>
          </a:xfrm>
          <a:prstGeom prst="rect">
            <a:avLst/>
          </a:prstGeom>
          <a:noFill/>
          <a:ln/>
        </p:spPr>
        <p:txBody>
          <a:bodyPr wrap="square" rtlCol="0" anchor="ctr"/>
          <a:lstStyle/>
          <a:p>
            <a:pPr marL="0" indent="0">
              <a:buNone/>
            </a:pPr>
            <a:r>
              <a:rPr lang="en-US" sz="1100" dirty="0">
                <a:solidFill>
                  <a:srgbClr val="334155"/>
                </a:solidFill>
              </a:rPr>
              <a:t>FAISS binary index — German vector search</a:t>
            </a:r>
            <a:endParaRPr lang="en-US" sz="1100" dirty="0"/>
          </a:p>
        </p:txBody>
      </p:sp>
      <p:sp>
        <p:nvSpPr>
          <p:cNvPr id="26" name="Shape 24"/>
          <p:cNvSpPr/>
          <p:nvPr/>
        </p:nvSpPr>
        <p:spPr>
          <a:xfrm>
            <a:off x="365760" y="3776472"/>
            <a:ext cx="8412480" cy="438912"/>
          </a:xfrm>
          <a:prstGeom prst="rect">
            <a:avLst/>
          </a:prstGeom>
          <a:solidFill>
            <a:srgbClr val="F8FAFC"/>
          </a:solidFill>
          <a:ln w="6350">
            <a:solidFill>
              <a:srgbClr val="DDE3EA"/>
            </a:solidFill>
            <a:prstDash val="solid"/>
          </a:ln>
          <a:effectLst>
            <a:outerShdw blurRad="101600" dist="38100" dir="8100000" algn="bl" rotWithShape="0">
              <a:srgbClr val="000000">
                <a:alpha val="12000"/>
              </a:srgbClr>
            </a:outerShdw>
          </a:effectLst>
        </p:spPr>
        <p:txBody>
          <a:bodyPr/>
          <a:lstStyle/>
          <a:p>
            <a:endParaRPr lang="en-US"/>
          </a:p>
        </p:txBody>
      </p:sp>
      <p:sp>
        <p:nvSpPr>
          <p:cNvPr id="27" name="Shape 25"/>
          <p:cNvSpPr/>
          <p:nvPr/>
        </p:nvSpPr>
        <p:spPr>
          <a:xfrm>
            <a:off x="365760" y="3776472"/>
            <a:ext cx="54864" cy="438912"/>
          </a:xfrm>
          <a:prstGeom prst="rect">
            <a:avLst/>
          </a:prstGeom>
          <a:solidFill>
            <a:srgbClr val="D97706"/>
          </a:solidFill>
          <a:ln/>
        </p:spPr>
        <p:txBody>
          <a:bodyPr/>
          <a:lstStyle/>
          <a:p>
            <a:endParaRPr lang="en-US"/>
          </a:p>
        </p:txBody>
      </p:sp>
      <p:sp>
        <p:nvSpPr>
          <p:cNvPr id="28" name="Text 26"/>
          <p:cNvSpPr/>
          <p:nvPr/>
        </p:nvSpPr>
        <p:spPr>
          <a:xfrm>
            <a:off x="566928" y="3858768"/>
            <a:ext cx="2834640" cy="274320"/>
          </a:xfrm>
          <a:prstGeom prst="rect">
            <a:avLst/>
          </a:prstGeom>
          <a:noFill/>
          <a:ln/>
        </p:spPr>
        <p:txBody>
          <a:bodyPr wrap="square" rtlCol="0" anchor="ctr"/>
          <a:lstStyle/>
          <a:p>
            <a:pPr marL="0" indent="0">
              <a:buNone/>
            </a:pPr>
            <a:r>
              <a:rPr lang="en-US" sz="1100" b="1" dirty="0">
                <a:solidFill>
                  <a:srgbClr val="D97706"/>
                </a:solidFill>
                <a:latin typeface="Courier New" pitchFamily="34" charset="0"/>
                <a:ea typeface="Courier New" pitchFamily="34" charset="-122"/>
                <a:cs typeface="Courier New" pitchFamily="34" charset="-120"/>
              </a:rPr>
              <a:t>haw_kb_meta_en.json</a:t>
            </a:r>
            <a:endParaRPr lang="en-US" sz="1100" dirty="0"/>
          </a:p>
        </p:txBody>
      </p:sp>
      <p:sp>
        <p:nvSpPr>
          <p:cNvPr id="29" name="Text 27"/>
          <p:cNvSpPr/>
          <p:nvPr/>
        </p:nvSpPr>
        <p:spPr>
          <a:xfrm>
            <a:off x="3520440" y="3858768"/>
            <a:ext cx="5120640" cy="274320"/>
          </a:xfrm>
          <a:prstGeom prst="rect">
            <a:avLst/>
          </a:prstGeom>
          <a:noFill/>
          <a:ln/>
        </p:spPr>
        <p:txBody>
          <a:bodyPr wrap="square" rtlCol="0" anchor="ctr"/>
          <a:lstStyle/>
          <a:p>
            <a:pPr marL="0" indent="0">
              <a:buNone/>
            </a:pPr>
            <a:r>
              <a:rPr lang="en-US" sz="1100" dirty="0">
                <a:solidFill>
                  <a:srgbClr val="334155"/>
                </a:solidFill>
              </a:rPr>
              <a:t>Lookup table: vector position → English text string</a:t>
            </a:r>
            <a:endParaRPr lang="en-US" sz="1100" dirty="0"/>
          </a:p>
        </p:txBody>
      </p:sp>
      <p:sp>
        <p:nvSpPr>
          <p:cNvPr id="30" name="Shape 28"/>
          <p:cNvSpPr/>
          <p:nvPr/>
        </p:nvSpPr>
        <p:spPr>
          <a:xfrm>
            <a:off x="365760" y="4279392"/>
            <a:ext cx="8412480" cy="438912"/>
          </a:xfrm>
          <a:prstGeom prst="rect">
            <a:avLst/>
          </a:prstGeom>
          <a:solidFill>
            <a:srgbClr val="FFFFFF"/>
          </a:solidFill>
          <a:ln w="6350">
            <a:solidFill>
              <a:srgbClr val="DDE3EA"/>
            </a:solidFill>
            <a:prstDash val="solid"/>
          </a:ln>
          <a:effectLst>
            <a:outerShdw blurRad="101600" dist="38100" dir="8100000" algn="bl" rotWithShape="0">
              <a:srgbClr val="000000">
                <a:alpha val="12000"/>
              </a:srgbClr>
            </a:outerShdw>
          </a:effectLst>
        </p:spPr>
        <p:txBody>
          <a:bodyPr/>
          <a:lstStyle/>
          <a:p>
            <a:endParaRPr lang="en-US"/>
          </a:p>
        </p:txBody>
      </p:sp>
      <p:sp>
        <p:nvSpPr>
          <p:cNvPr id="31" name="Shape 29"/>
          <p:cNvSpPr/>
          <p:nvPr/>
        </p:nvSpPr>
        <p:spPr>
          <a:xfrm>
            <a:off x="365760" y="4279392"/>
            <a:ext cx="54864" cy="438912"/>
          </a:xfrm>
          <a:prstGeom prst="rect">
            <a:avLst/>
          </a:prstGeom>
          <a:solidFill>
            <a:srgbClr val="D97706"/>
          </a:solidFill>
          <a:ln/>
        </p:spPr>
        <p:txBody>
          <a:bodyPr/>
          <a:lstStyle/>
          <a:p>
            <a:endParaRPr lang="en-US"/>
          </a:p>
        </p:txBody>
      </p:sp>
      <p:sp>
        <p:nvSpPr>
          <p:cNvPr id="32" name="Text 30"/>
          <p:cNvSpPr/>
          <p:nvPr/>
        </p:nvSpPr>
        <p:spPr>
          <a:xfrm>
            <a:off x="566928" y="4361688"/>
            <a:ext cx="2834640" cy="274320"/>
          </a:xfrm>
          <a:prstGeom prst="rect">
            <a:avLst/>
          </a:prstGeom>
          <a:noFill/>
          <a:ln/>
        </p:spPr>
        <p:txBody>
          <a:bodyPr wrap="square" rtlCol="0" anchor="ctr"/>
          <a:lstStyle/>
          <a:p>
            <a:pPr marL="0" indent="0">
              <a:buNone/>
            </a:pPr>
            <a:r>
              <a:rPr lang="en-US" sz="1100" b="1" dirty="0">
                <a:solidFill>
                  <a:srgbClr val="D97706"/>
                </a:solidFill>
                <a:latin typeface="Courier New" pitchFamily="34" charset="0"/>
                <a:ea typeface="Courier New" pitchFamily="34" charset="-122"/>
                <a:cs typeface="Courier New" pitchFamily="34" charset="-120"/>
              </a:rPr>
              <a:t>haw_kb_meta_de.json</a:t>
            </a:r>
            <a:endParaRPr lang="en-US" sz="1100" dirty="0"/>
          </a:p>
        </p:txBody>
      </p:sp>
      <p:sp>
        <p:nvSpPr>
          <p:cNvPr id="33" name="Text 31"/>
          <p:cNvSpPr/>
          <p:nvPr/>
        </p:nvSpPr>
        <p:spPr>
          <a:xfrm>
            <a:off x="3520440" y="4361688"/>
            <a:ext cx="5120640" cy="274320"/>
          </a:xfrm>
          <a:prstGeom prst="rect">
            <a:avLst/>
          </a:prstGeom>
          <a:noFill/>
          <a:ln/>
        </p:spPr>
        <p:txBody>
          <a:bodyPr wrap="square" rtlCol="0" anchor="ctr"/>
          <a:lstStyle/>
          <a:p>
            <a:pPr marL="0" indent="0">
              <a:buNone/>
            </a:pPr>
            <a:r>
              <a:rPr lang="en-US" sz="1100" dirty="0">
                <a:solidFill>
                  <a:srgbClr val="334155"/>
                </a:solidFill>
              </a:rPr>
              <a:t>Lookup table: vector position → German text string</a:t>
            </a:r>
            <a:endParaRPr lang="en-US" sz="1100" dirty="0"/>
          </a:p>
        </p:txBody>
      </p:sp>
      <p:sp>
        <p:nvSpPr>
          <p:cNvPr id="34" name="Text 32"/>
          <p:cNvSpPr/>
          <p:nvPr/>
        </p:nvSpPr>
        <p:spPr>
          <a:xfrm>
            <a:off x="365760" y="4773168"/>
            <a:ext cx="1005840" cy="228600"/>
          </a:xfrm>
          <a:prstGeom prst="rect">
            <a:avLst/>
          </a:prstGeom>
          <a:noFill/>
          <a:ln/>
        </p:spPr>
        <p:txBody>
          <a:bodyPr wrap="square" rtlCol="0" anchor="ctr"/>
          <a:lstStyle/>
          <a:p>
            <a:pPr marL="0" indent="0">
              <a:buNone/>
            </a:pPr>
            <a:r>
              <a:rPr lang="en-US" sz="900" dirty="0">
                <a:solidFill>
                  <a:srgbClr val="94A3B8"/>
                </a:solidFill>
              </a:rPr>
              <a:t>Colour key:</a:t>
            </a:r>
            <a:endParaRPr lang="en-US" sz="900" dirty="0"/>
          </a:p>
        </p:txBody>
      </p:sp>
      <p:sp>
        <p:nvSpPr>
          <p:cNvPr id="35" name="Shape 33"/>
          <p:cNvSpPr/>
          <p:nvPr/>
        </p:nvSpPr>
        <p:spPr>
          <a:xfrm>
            <a:off x="1417320" y="4828032"/>
            <a:ext cx="128016" cy="128016"/>
          </a:xfrm>
          <a:prstGeom prst="rect">
            <a:avLst/>
          </a:prstGeom>
          <a:solidFill>
            <a:srgbClr val="334155"/>
          </a:solidFill>
          <a:ln/>
        </p:spPr>
        <p:txBody>
          <a:bodyPr/>
          <a:lstStyle/>
          <a:p>
            <a:endParaRPr lang="en-US"/>
          </a:p>
        </p:txBody>
      </p:sp>
      <p:sp>
        <p:nvSpPr>
          <p:cNvPr id="36" name="Text 34"/>
          <p:cNvSpPr/>
          <p:nvPr/>
        </p:nvSpPr>
        <p:spPr>
          <a:xfrm>
            <a:off x="1600200" y="4773168"/>
            <a:ext cx="1554480" cy="228600"/>
          </a:xfrm>
          <a:prstGeom prst="rect">
            <a:avLst/>
          </a:prstGeom>
          <a:noFill/>
          <a:ln/>
        </p:spPr>
        <p:txBody>
          <a:bodyPr wrap="square" rtlCol="0" anchor="ctr"/>
          <a:lstStyle/>
          <a:p>
            <a:pPr marL="0" indent="0">
              <a:buNone/>
            </a:pPr>
            <a:r>
              <a:rPr lang="en-US" sz="900" dirty="0">
                <a:solidFill>
                  <a:srgbClr val="94A3B8"/>
                </a:solidFill>
              </a:rPr>
              <a:t>Raw</a:t>
            </a:r>
            <a:endParaRPr lang="en-US" sz="900" dirty="0"/>
          </a:p>
        </p:txBody>
      </p:sp>
      <p:sp>
        <p:nvSpPr>
          <p:cNvPr id="37" name="Shape 35"/>
          <p:cNvSpPr/>
          <p:nvPr/>
        </p:nvSpPr>
        <p:spPr>
          <a:xfrm>
            <a:off x="3246120" y="4828032"/>
            <a:ext cx="128016" cy="128016"/>
          </a:xfrm>
          <a:prstGeom prst="rect">
            <a:avLst/>
          </a:prstGeom>
          <a:solidFill>
            <a:srgbClr val="1A56DB"/>
          </a:solidFill>
          <a:ln/>
        </p:spPr>
        <p:txBody>
          <a:bodyPr/>
          <a:lstStyle/>
          <a:p>
            <a:endParaRPr lang="en-US"/>
          </a:p>
        </p:txBody>
      </p:sp>
      <p:sp>
        <p:nvSpPr>
          <p:cNvPr id="38" name="Text 36"/>
          <p:cNvSpPr/>
          <p:nvPr/>
        </p:nvSpPr>
        <p:spPr>
          <a:xfrm>
            <a:off x="3429000" y="4773168"/>
            <a:ext cx="1554480" cy="228600"/>
          </a:xfrm>
          <a:prstGeom prst="rect">
            <a:avLst/>
          </a:prstGeom>
          <a:noFill/>
          <a:ln/>
        </p:spPr>
        <p:txBody>
          <a:bodyPr wrap="square" rtlCol="0" anchor="ctr"/>
          <a:lstStyle/>
          <a:p>
            <a:pPr marL="0" indent="0">
              <a:buNone/>
            </a:pPr>
            <a:r>
              <a:rPr lang="en-US" sz="900" dirty="0">
                <a:solidFill>
                  <a:srgbClr val="94A3B8"/>
                </a:solidFill>
              </a:rPr>
              <a:t>Translated JSON</a:t>
            </a:r>
            <a:endParaRPr lang="en-US" sz="900" dirty="0"/>
          </a:p>
        </p:txBody>
      </p:sp>
      <p:sp>
        <p:nvSpPr>
          <p:cNvPr id="39" name="Shape 37"/>
          <p:cNvSpPr/>
          <p:nvPr/>
        </p:nvSpPr>
        <p:spPr>
          <a:xfrm>
            <a:off x="5074920" y="4828032"/>
            <a:ext cx="128016" cy="128016"/>
          </a:xfrm>
          <a:prstGeom prst="rect">
            <a:avLst/>
          </a:prstGeom>
          <a:solidFill>
            <a:srgbClr val="059669"/>
          </a:solidFill>
          <a:ln/>
        </p:spPr>
        <p:txBody>
          <a:bodyPr/>
          <a:lstStyle/>
          <a:p>
            <a:endParaRPr lang="en-US"/>
          </a:p>
        </p:txBody>
      </p:sp>
      <p:sp>
        <p:nvSpPr>
          <p:cNvPr id="40" name="Text 38"/>
          <p:cNvSpPr/>
          <p:nvPr/>
        </p:nvSpPr>
        <p:spPr>
          <a:xfrm>
            <a:off x="5257800" y="4773168"/>
            <a:ext cx="1554480" cy="228600"/>
          </a:xfrm>
          <a:prstGeom prst="rect">
            <a:avLst/>
          </a:prstGeom>
          <a:noFill/>
          <a:ln/>
        </p:spPr>
        <p:txBody>
          <a:bodyPr wrap="square" rtlCol="0" anchor="ctr"/>
          <a:lstStyle/>
          <a:p>
            <a:pPr marL="0" indent="0">
              <a:buNone/>
            </a:pPr>
            <a:r>
              <a:rPr lang="en-US" sz="900" dirty="0">
                <a:solidFill>
                  <a:srgbClr val="94A3B8"/>
                </a:solidFill>
              </a:rPr>
              <a:t>FAISS index</a:t>
            </a:r>
            <a:endParaRPr lang="en-US" sz="900" dirty="0"/>
          </a:p>
        </p:txBody>
      </p:sp>
      <p:sp>
        <p:nvSpPr>
          <p:cNvPr id="41" name="Shape 39"/>
          <p:cNvSpPr/>
          <p:nvPr/>
        </p:nvSpPr>
        <p:spPr>
          <a:xfrm>
            <a:off x="6903720" y="4828032"/>
            <a:ext cx="128016" cy="128016"/>
          </a:xfrm>
          <a:prstGeom prst="rect">
            <a:avLst/>
          </a:prstGeom>
          <a:solidFill>
            <a:srgbClr val="D97706"/>
          </a:solidFill>
          <a:ln/>
        </p:spPr>
        <p:txBody>
          <a:bodyPr/>
          <a:lstStyle/>
          <a:p>
            <a:endParaRPr lang="en-US"/>
          </a:p>
        </p:txBody>
      </p:sp>
      <p:sp>
        <p:nvSpPr>
          <p:cNvPr id="42" name="Text 40"/>
          <p:cNvSpPr/>
          <p:nvPr/>
        </p:nvSpPr>
        <p:spPr>
          <a:xfrm>
            <a:off x="7086600" y="4773168"/>
            <a:ext cx="1554480" cy="228600"/>
          </a:xfrm>
          <a:prstGeom prst="rect">
            <a:avLst/>
          </a:prstGeom>
          <a:noFill/>
          <a:ln/>
        </p:spPr>
        <p:txBody>
          <a:bodyPr wrap="square" rtlCol="0" anchor="ctr"/>
          <a:lstStyle/>
          <a:p>
            <a:pPr marL="0" indent="0">
              <a:buNone/>
            </a:pPr>
            <a:r>
              <a:rPr lang="en-US" sz="900" dirty="0">
                <a:solidFill>
                  <a:srgbClr val="94A3B8"/>
                </a:solidFill>
              </a:rPr>
              <a:t>Metadata lookup</a:t>
            </a:r>
            <a:endParaRPr lang="en-US" sz="900" dirty="0"/>
          </a:p>
        </p:txBody>
      </p:sp>
    </p:spTree>
    <p:extLst>
      <p:ext uri="{BB962C8B-B14F-4D97-AF65-F5344CB8AC3E}">
        <p14:creationId xmlns:p14="http://schemas.microsoft.com/office/powerpoint/2010/main" val="2511233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228600"/>
            <a:ext cx="1371600" cy="256032"/>
          </a:xfrm>
          <a:prstGeom prst="roundRect">
            <a:avLst>
              <a:gd name="adj" fmla="val 21429"/>
            </a:avLst>
          </a:prstGeom>
          <a:solidFill>
            <a:srgbClr val="1A56DB"/>
          </a:solidFill>
          <a:ln/>
        </p:spPr>
        <p:txBody>
          <a:bodyPr/>
          <a:lstStyle/>
          <a:p>
            <a:endParaRPr lang="en-US"/>
          </a:p>
        </p:txBody>
      </p:sp>
      <p:sp>
        <p:nvSpPr>
          <p:cNvPr id="3" name="Text 1"/>
          <p:cNvSpPr/>
          <p:nvPr/>
        </p:nvSpPr>
        <p:spPr>
          <a:xfrm>
            <a:off x="365760" y="228600"/>
            <a:ext cx="1371600" cy="256032"/>
          </a:xfrm>
          <a:prstGeom prst="rect">
            <a:avLst/>
          </a:prstGeom>
          <a:noFill/>
          <a:ln/>
        </p:spPr>
        <p:txBody>
          <a:bodyPr wrap="square" lIns="0" tIns="0" rIns="0" bIns="0" rtlCol="0" anchor="ctr"/>
          <a:lstStyle/>
          <a:p>
            <a:pPr marL="0" indent="0" algn="ctr">
              <a:buNone/>
            </a:pPr>
            <a:r>
              <a:rPr lang="en-US" sz="800" b="1" dirty="0">
                <a:solidFill>
                  <a:srgbClr val="FFFFFF"/>
                </a:solidFill>
              </a:rPr>
              <a:t>EVALUATION</a:t>
            </a:r>
            <a:endParaRPr lang="en-US" sz="800" dirty="0"/>
          </a:p>
        </p:txBody>
      </p:sp>
      <p:sp>
        <p:nvSpPr>
          <p:cNvPr id="4" name="Text 2"/>
          <p:cNvSpPr/>
          <p:nvPr/>
        </p:nvSpPr>
        <p:spPr>
          <a:xfrm>
            <a:off x="8321040" y="4846320"/>
            <a:ext cx="731520" cy="182880"/>
          </a:xfrm>
          <a:prstGeom prst="rect">
            <a:avLst/>
          </a:prstGeom>
          <a:noFill/>
          <a:ln/>
        </p:spPr>
        <p:txBody>
          <a:bodyPr wrap="square" rtlCol="0" anchor="ctr"/>
          <a:lstStyle/>
          <a:p>
            <a:pPr marL="0" indent="0" algn="r">
              <a:buNone/>
            </a:pPr>
            <a:r>
              <a:rPr lang="en-US" sz="900" dirty="0">
                <a:solidFill>
                  <a:srgbClr val="94A3B8"/>
                </a:solidFill>
              </a:rPr>
              <a:t>9 / 10</a:t>
            </a:r>
            <a:endParaRPr lang="en-US" sz="900" dirty="0"/>
          </a:p>
        </p:txBody>
      </p:sp>
      <p:sp>
        <p:nvSpPr>
          <p:cNvPr id="5" name="Text 3"/>
          <p:cNvSpPr/>
          <p:nvPr/>
        </p:nvSpPr>
        <p:spPr>
          <a:xfrm>
            <a:off x="365760" y="594360"/>
            <a:ext cx="8412480" cy="502920"/>
          </a:xfrm>
          <a:prstGeom prst="rect">
            <a:avLst/>
          </a:prstGeom>
          <a:noFill/>
          <a:ln/>
        </p:spPr>
        <p:txBody>
          <a:bodyPr wrap="square" rtlCol="0" anchor="ctr"/>
          <a:lstStyle/>
          <a:p>
            <a:pPr marL="0" indent="0">
              <a:buNone/>
            </a:pPr>
            <a:r>
              <a:rPr lang="en-US" sz="2700" b="1" dirty="0">
                <a:solidFill>
                  <a:srgbClr val="334155"/>
                </a:solidFill>
                <a:latin typeface="Calibri" pitchFamily="34" charset="0"/>
                <a:ea typeface="Calibri" pitchFamily="34" charset="-122"/>
                <a:cs typeface="Calibri" pitchFamily="34" charset="-120"/>
              </a:rPr>
              <a:t>Current limitations &amp; recommended next steps</a:t>
            </a:r>
            <a:endParaRPr lang="en-US" sz="2700" dirty="0"/>
          </a:p>
        </p:txBody>
      </p:sp>
      <p:sp>
        <p:nvSpPr>
          <p:cNvPr id="6" name="Shape 4"/>
          <p:cNvSpPr/>
          <p:nvPr/>
        </p:nvSpPr>
        <p:spPr>
          <a:xfrm>
            <a:off x="365760" y="1234440"/>
            <a:ext cx="4023360" cy="3566160"/>
          </a:xfrm>
          <a:prstGeom prst="rect">
            <a:avLst/>
          </a:prstGeom>
          <a:solidFill>
            <a:srgbClr val="FFFFFF"/>
          </a:solidFill>
          <a:ln w="6350">
            <a:solidFill>
              <a:srgbClr val="DDE3EA"/>
            </a:solidFill>
            <a:prstDash val="solid"/>
          </a:ln>
          <a:effectLst>
            <a:outerShdw blurRad="101600" dist="38100" dir="8100000" algn="bl" rotWithShape="0">
              <a:srgbClr val="000000">
                <a:alpha val="12000"/>
              </a:srgbClr>
            </a:outerShdw>
          </a:effectLst>
        </p:spPr>
        <p:txBody>
          <a:bodyPr/>
          <a:lstStyle/>
          <a:p>
            <a:endParaRPr lang="en-US"/>
          </a:p>
        </p:txBody>
      </p:sp>
      <p:sp>
        <p:nvSpPr>
          <p:cNvPr id="7" name="Shape 5"/>
          <p:cNvSpPr/>
          <p:nvPr/>
        </p:nvSpPr>
        <p:spPr>
          <a:xfrm>
            <a:off x="365760" y="1234440"/>
            <a:ext cx="4023360" cy="384048"/>
          </a:xfrm>
          <a:prstGeom prst="rect">
            <a:avLst/>
          </a:prstGeom>
          <a:solidFill>
            <a:srgbClr val="DC2626"/>
          </a:solidFill>
          <a:ln/>
        </p:spPr>
        <p:txBody>
          <a:bodyPr/>
          <a:lstStyle/>
          <a:p>
            <a:endParaRPr lang="en-US"/>
          </a:p>
        </p:txBody>
      </p:sp>
      <p:sp>
        <p:nvSpPr>
          <p:cNvPr id="8" name="Text 6"/>
          <p:cNvSpPr/>
          <p:nvPr/>
        </p:nvSpPr>
        <p:spPr>
          <a:xfrm>
            <a:off x="365760" y="1234440"/>
            <a:ext cx="4023360" cy="384048"/>
          </a:xfrm>
          <a:prstGeom prst="rect">
            <a:avLst/>
          </a:prstGeom>
          <a:noFill/>
          <a:ln/>
        </p:spPr>
        <p:txBody>
          <a:bodyPr wrap="square" lIns="0" tIns="0" rIns="0" bIns="0" rtlCol="0" anchor="ctr"/>
          <a:lstStyle/>
          <a:p>
            <a:pPr marL="0" indent="0" algn="ctr">
              <a:buNone/>
            </a:pPr>
            <a:r>
              <a:rPr lang="en-US" sz="1300" b="1" dirty="0">
                <a:solidFill>
                  <a:srgbClr val="FFFFFF"/>
                </a:solidFill>
              </a:rPr>
              <a:t>Current Limitations</a:t>
            </a:r>
            <a:endParaRPr lang="en-US" sz="1300" dirty="0"/>
          </a:p>
        </p:txBody>
      </p:sp>
      <p:sp>
        <p:nvSpPr>
          <p:cNvPr id="9" name="Text 7"/>
          <p:cNvSpPr/>
          <p:nvPr/>
        </p:nvSpPr>
        <p:spPr>
          <a:xfrm>
            <a:off x="502920" y="1737360"/>
            <a:ext cx="3749040" cy="438912"/>
          </a:xfrm>
          <a:prstGeom prst="rect">
            <a:avLst/>
          </a:prstGeom>
          <a:noFill/>
          <a:ln/>
        </p:spPr>
        <p:txBody>
          <a:bodyPr wrap="square" rtlCol="0" anchor="ctr"/>
          <a:lstStyle/>
          <a:p>
            <a:pPr marL="342900" indent="-342900">
              <a:buSzPct val="100000"/>
              <a:buChar char="•"/>
            </a:pPr>
            <a:r>
              <a:rPr lang="en-US" sz="1100" dirty="0">
                <a:solidFill>
                  <a:srgbClr val="334155"/>
                </a:solidFill>
              </a:rPr>
              <a:t>26 chunks only — limited URL coverage</a:t>
            </a:r>
            <a:endParaRPr lang="en-US" sz="1100" dirty="0"/>
          </a:p>
        </p:txBody>
      </p:sp>
      <p:sp>
        <p:nvSpPr>
          <p:cNvPr id="10" name="Text 8"/>
          <p:cNvSpPr/>
          <p:nvPr/>
        </p:nvSpPr>
        <p:spPr>
          <a:xfrm>
            <a:off x="502920" y="2231136"/>
            <a:ext cx="3749040" cy="438912"/>
          </a:xfrm>
          <a:prstGeom prst="rect">
            <a:avLst/>
          </a:prstGeom>
          <a:noFill/>
          <a:ln/>
        </p:spPr>
        <p:txBody>
          <a:bodyPr wrap="square" rtlCol="0" anchor="ctr"/>
          <a:lstStyle/>
          <a:p>
            <a:pPr marL="342900" indent="-342900">
              <a:buSzPct val="100000"/>
              <a:buChar char="•"/>
            </a:pPr>
            <a:r>
              <a:rPr lang="en-US" sz="1100" dirty="0">
                <a:solidFill>
                  <a:srgbClr val="334155"/>
                </a:solidFill>
              </a:rPr>
              <a:t>No conversation memory across turns</a:t>
            </a:r>
            <a:endParaRPr lang="en-US" sz="1100" dirty="0"/>
          </a:p>
        </p:txBody>
      </p:sp>
      <p:sp>
        <p:nvSpPr>
          <p:cNvPr id="11" name="Text 9"/>
          <p:cNvSpPr/>
          <p:nvPr/>
        </p:nvSpPr>
        <p:spPr>
          <a:xfrm>
            <a:off x="502920" y="2724912"/>
            <a:ext cx="3749040" cy="438912"/>
          </a:xfrm>
          <a:prstGeom prst="rect">
            <a:avLst/>
          </a:prstGeom>
          <a:noFill/>
          <a:ln/>
        </p:spPr>
        <p:txBody>
          <a:bodyPr wrap="square" rtlCol="0" anchor="ctr"/>
          <a:lstStyle/>
          <a:p>
            <a:pPr marL="342900" indent="-342900">
              <a:buSzPct val="100000"/>
              <a:buChar char="•"/>
            </a:pPr>
            <a:r>
              <a:rPr lang="en-US" sz="1100" dirty="0">
                <a:solidFill>
                  <a:srgbClr val="334155"/>
                </a:solidFill>
              </a:rPr>
              <a:t>Translation quality depends on Google Translate</a:t>
            </a:r>
            <a:endParaRPr lang="en-US" sz="1100" dirty="0"/>
          </a:p>
        </p:txBody>
      </p:sp>
      <p:sp>
        <p:nvSpPr>
          <p:cNvPr id="12" name="Text 10"/>
          <p:cNvSpPr/>
          <p:nvPr/>
        </p:nvSpPr>
        <p:spPr>
          <a:xfrm>
            <a:off x="502920" y="3218688"/>
            <a:ext cx="3749040" cy="438912"/>
          </a:xfrm>
          <a:prstGeom prst="rect">
            <a:avLst/>
          </a:prstGeom>
          <a:noFill/>
          <a:ln/>
        </p:spPr>
        <p:txBody>
          <a:bodyPr wrap="square" rtlCol="0" anchor="ctr"/>
          <a:lstStyle/>
          <a:p>
            <a:pPr marL="342900" indent="-342900">
              <a:buSzPct val="100000"/>
              <a:buChar char="•"/>
            </a:pPr>
            <a:r>
              <a:rPr lang="en-US" sz="1100" dirty="0">
                <a:solidFill>
                  <a:srgbClr val="334155"/>
                </a:solidFill>
              </a:rPr>
              <a:t>Threshold (2.0) not formally validated with a test set</a:t>
            </a:r>
            <a:endParaRPr lang="en-US" sz="1100" dirty="0"/>
          </a:p>
        </p:txBody>
      </p:sp>
      <p:sp>
        <p:nvSpPr>
          <p:cNvPr id="13" name="Text 11"/>
          <p:cNvSpPr/>
          <p:nvPr/>
        </p:nvSpPr>
        <p:spPr>
          <a:xfrm>
            <a:off x="502920" y="3712464"/>
            <a:ext cx="3749040" cy="438912"/>
          </a:xfrm>
          <a:prstGeom prst="rect">
            <a:avLst/>
          </a:prstGeom>
          <a:noFill/>
          <a:ln/>
        </p:spPr>
        <p:txBody>
          <a:bodyPr wrap="square" rtlCol="0" anchor="ctr"/>
          <a:lstStyle/>
          <a:p>
            <a:pPr marL="342900" indent="-342900">
              <a:buSzPct val="100000"/>
              <a:buChar char="•"/>
            </a:pPr>
            <a:r>
              <a:rPr lang="en-US" sz="1100" dirty="0">
                <a:solidFill>
                  <a:srgbClr val="334155"/>
                </a:solidFill>
              </a:rPr>
              <a:t>No approximate index (slow at large scale)</a:t>
            </a:r>
            <a:endParaRPr lang="en-US" sz="1100" dirty="0"/>
          </a:p>
        </p:txBody>
      </p:sp>
      <p:sp>
        <p:nvSpPr>
          <p:cNvPr id="14" name="Shape 12"/>
          <p:cNvSpPr/>
          <p:nvPr/>
        </p:nvSpPr>
        <p:spPr>
          <a:xfrm>
            <a:off x="4754880" y="1234440"/>
            <a:ext cx="4023360" cy="3566160"/>
          </a:xfrm>
          <a:prstGeom prst="rect">
            <a:avLst/>
          </a:prstGeom>
          <a:solidFill>
            <a:srgbClr val="FFFFFF"/>
          </a:solidFill>
          <a:ln w="6350">
            <a:solidFill>
              <a:srgbClr val="DDE3EA"/>
            </a:solidFill>
            <a:prstDash val="solid"/>
          </a:ln>
          <a:effectLst>
            <a:outerShdw blurRad="101600" dist="38100" dir="8100000" algn="bl" rotWithShape="0">
              <a:srgbClr val="000000">
                <a:alpha val="12000"/>
              </a:srgbClr>
            </a:outerShdw>
          </a:effectLst>
        </p:spPr>
        <p:txBody>
          <a:bodyPr/>
          <a:lstStyle/>
          <a:p>
            <a:endParaRPr lang="en-US"/>
          </a:p>
        </p:txBody>
      </p:sp>
      <p:sp>
        <p:nvSpPr>
          <p:cNvPr id="15" name="Shape 13"/>
          <p:cNvSpPr/>
          <p:nvPr/>
        </p:nvSpPr>
        <p:spPr>
          <a:xfrm>
            <a:off x="4754880" y="1234440"/>
            <a:ext cx="4023360" cy="384048"/>
          </a:xfrm>
          <a:prstGeom prst="rect">
            <a:avLst/>
          </a:prstGeom>
          <a:solidFill>
            <a:srgbClr val="059669"/>
          </a:solidFill>
          <a:ln/>
        </p:spPr>
        <p:txBody>
          <a:bodyPr/>
          <a:lstStyle/>
          <a:p>
            <a:endParaRPr lang="en-US"/>
          </a:p>
        </p:txBody>
      </p:sp>
      <p:sp>
        <p:nvSpPr>
          <p:cNvPr id="16" name="Text 14"/>
          <p:cNvSpPr/>
          <p:nvPr/>
        </p:nvSpPr>
        <p:spPr>
          <a:xfrm>
            <a:off x="4754880" y="1234440"/>
            <a:ext cx="4023360" cy="384048"/>
          </a:xfrm>
          <a:prstGeom prst="rect">
            <a:avLst/>
          </a:prstGeom>
          <a:noFill/>
          <a:ln/>
        </p:spPr>
        <p:txBody>
          <a:bodyPr wrap="square" lIns="0" tIns="0" rIns="0" bIns="0" rtlCol="0" anchor="ctr"/>
          <a:lstStyle/>
          <a:p>
            <a:pPr marL="0" indent="0" algn="ctr">
              <a:buNone/>
            </a:pPr>
            <a:r>
              <a:rPr lang="en-US" sz="1300" b="1" dirty="0">
                <a:solidFill>
                  <a:srgbClr val="FFFFFF"/>
                </a:solidFill>
              </a:rPr>
              <a:t>Future Scope</a:t>
            </a:r>
            <a:endParaRPr lang="en-US" sz="1300" dirty="0"/>
          </a:p>
        </p:txBody>
      </p:sp>
      <p:sp>
        <p:nvSpPr>
          <p:cNvPr id="17" name="Text 15"/>
          <p:cNvSpPr/>
          <p:nvPr/>
        </p:nvSpPr>
        <p:spPr>
          <a:xfrm>
            <a:off x="4892040" y="1737360"/>
            <a:ext cx="3749040" cy="438912"/>
          </a:xfrm>
          <a:prstGeom prst="rect">
            <a:avLst/>
          </a:prstGeom>
          <a:noFill/>
          <a:ln/>
        </p:spPr>
        <p:txBody>
          <a:bodyPr wrap="square" rtlCol="0" anchor="ctr"/>
          <a:lstStyle/>
          <a:p>
            <a:pPr marL="342900" indent="-342900">
              <a:buSzPct val="100000"/>
              <a:buChar char="•"/>
            </a:pPr>
            <a:r>
              <a:rPr lang="en-US" sz="1100" dirty="0">
                <a:solidFill>
                  <a:srgbClr val="334155"/>
                </a:solidFill>
              </a:rPr>
              <a:t>Expand Excel URL list — more departments</a:t>
            </a:r>
            <a:endParaRPr lang="en-US" sz="1100" dirty="0"/>
          </a:p>
        </p:txBody>
      </p:sp>
      <p:sp>
        <p:nvSpPr>
          <p:cNvPr id="18" name="Text 16"/>
          <p:cNvSpPr/>
          <p:nvPr/>
        </p:nvSpPr>
        <p:spPr>
          <a:xfrm>
            <a:off x="4892040" y="2231136"/>
            <a:ext cx="3749040" cy="438912"/>
          </a:xfrm>
          <a:prstGeom prst="rect">
            <a:avLst/>
          </a:prstGeom>
          <a:noFill/>
          <a:ln/>
        </p:spPr>
        <p:txBody>
          <a:bodyPr wrap="square" rtlCol="0" anchor="ctr"/>
          <a:lstStyle/>
          <a:p>
            <a:pPr marL="342900" indent="-342900">
              <a:buSzPct val="100000"/>
              <a:buChar char="•"/>
            </a:pPr>
            <a:r>
              <a:rPr lang="en-US" sz="1100" dirty="0">
                <a:solidFill>
                  <a:srgbClr val="334155"/>
                </a:solidFill>
              </a:rPr>
              <a:t>Build labelled test set (50+ Q&amp;A pairs) to tune threshold</a:t>
            </a:r>
            <a:endParaRPr lang="en-US" sz="1100" dirty="0"/>
          </a:p>
        </p:txBody>
      </p:sp>
      <p:sp>
        <p:nvSpPr>
          <p:cNvPr id="19" name="Text 17"/>
          <p:cNvSpPr/>
          <p:nvPr/>
        </p:nvSpPr>
        <p:spPr>
          <a:xfrm>
            <a:off x="4892040" y="2724912"/>
            <a:ext cx="3749040" cy="438912"/>
          </a:xfrm>
          <a:prstGeom prst="rect">
            <a:avLst/>
          </a:prstGeom>
          <a:noFill/>
          <a:ln/>
        </p:spPr>
        <p:txBody>
          <a:bodyPr wrap="square" rtlCol="0" anchor="ctr"/>
          <a:lstStyle/>
          <a:p>
            <a:pPr marL="342900" indent="-342900">
              <a:buSzPct val="100000"/>
              <a:buChar char="•"/>
            </a:pPr>
            <a:r>
              <a:rPr lang="en-US" sz="1100" dirty="0">
                <a:solidFill>
                  <a:srgbClr val="334155"/>
                </a:solidFill>
              </a:rPr>
              <a:t>Add conversation history to GPT prompt</a:t>
            </a:r>
            <a:endParaRPr lang="en-US" sz="1100" dirty="0"/>
          </a:p>
        </p:txBody>
      </p:sp>
      <p:sp>
        <p:nvSpPr>
          <p:cNvPr id="20" name="Text 18"/>
          <p:cNvSpPr/>
          <p:nvPr/>
        </p:nvSpPr>
        <p:spPr>
          <a:xfrm>
            <a:off x="4892040" y="3218688"/>
            <a:ext cx="3749040" cy="438912"/>
          </a:xfrm>
          <a:prstGeom prst="rect">
            <a:avLst/>
          </a:prstGeom>
          <a:noFill/>
          <a:ln/>
        </p:spPr>
        <p:txBody>
          <a:bodyPr wrap="square" rtlCol="0" anchor="ctr"/>
          <a:lstStyle/>
          <a:p>
            <a:pPr marL="342900" indent="-342900">
              <a:buSzPct val="100000"/>
              <a:buChar char="•"/>
            </a:pPr>
            <a:r>
              <a:rPr lang="en-US" sz="1100" dirty="0">
                <a:solidFill>
                  <a:srgbClr val="334155"/>
                </a:solidFill>
              </a:rPr>
              <a:t>Replace hard threshold with soft confidence score</a:t>
            </a:r>
            <a:endParaRPr lang="en-US" sz="1100" dirty="0"/>
          </a:p>
        </p:txBody>
      </p:sp>
      <p:sp>
        <p:nvSpPr>
          <p:cNvPr id="21" name="Text 19"/>
          <p:cNvSpPr/>
          <p:nvPr/>
        </p:nvSpPr>
        <p:spPr>
          <a:xfrm>
            <a:off x="4892040" y="3712464"/>
            <a:ext cx="3749040" cy="438912"/>
          </a:xfrm>
          <a:prstGeom prst="rect">
            <a:avLst/>
          </a:prstGeom>
          <a:noFill/>
          <a:ln/>
        </p:spPr>
        <p:txBody>
          <a:bodyPr wrap="square" rtlCol="0" anchor="ctr"/>
          <a:lstStyle/>
          <a:p>
            <a:pPr marL="342900" indent="-342900">
              <a:buSzPct val="100000"/>
              <a:buChar char="•"/>
            </a:pPr>
            <a:r>
              <a:rPr lang="en-US" sz="1100" dirty="0">
                <a:solidFill>
                  <a:srgbClr val="334155"/>
                </a:solidFill>
              </a:rPr>
              <a:t>Deploy on Streamlit Cloud or HAW infrastructure</a:t>
            </a:r>
            <a:endParaRPr lang="en-US" sz="1100" dirty="0"/>
          </a:p>
        </p:txBody>
      </p:sp>
    </p:spTree>
    <p:extLst>
      <p:ext uri="{BB962C8B-B14F-4D97-AF65-F5344CB8AC3E}">
        <p14:creationId xmlns:p14="http://schemas.microsoft.com/office/powerpoint/2010/main" val="41559312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A56DB"/>
          </a:solidFill>
          <a:ln/>
        </p:spPr>
        <p:txBody>
          <a:bodyPr/>
          <a:lstStyle/>
          <a:p>
            <a:endParaRPr lang="en-US"/>
          </a:p>
        </p:txBody>
      </p:sp>
      <p:sp>
        <p:nvSpPr>
          <p:cNvPr id="3" name="Text 1"/>
          <p:cNvSpPr/>
          <p:nvPr/>
        </p:nvSpPr>
        <p:spPr>
          <a:xfrm>
            <a:off x="502920" y="1188720"/>
            <a:ext cx="8229600" cy="914400"/>
          </a:xfrm>
          <a:prstGeom prst="rect">
            <a:avLst/>
          </a:prstGeom>
          <a:noFill/>
          <a:ln/>
        </p:spPr>
        <p:txBody>
          <a:bodyPr wrap="square" rtlCol="0" anchor="ctr"/>
          <a:lstStyle/>
          <a:p>
            <a:pPr marL="0" indent="0" algn="ctr">
              <a:buNone/>
            </a:pPr>
            <a:r>
              <a:rPr lang="en-US" sz="6000" b="1" dirty="0">
                <a:solidFill>
                  <a:srgbClr val="FFFFFF"/>
                </a:solidFill>
                <a:latin typeface="Calibri" pitchFamily="34" charset="0"/>
                <a:ea typeface="Calibri" pitchFamily="34" charset="-122"/>
                <a:cs typeface="Calibri" pitchFamily="34" charset="-120"/>
              </a:rPr>
              <a:t>AskHAW</a:t>
            </a:r>
            <a:endParaRPr lang="en-US" sz="6000" dirty="0"/>
          </a:p>
        </p:txBody>
      </p:sp>
      <p:sp>
        <p:nvSpPr>
          <p:cNvPr id="4" name="Text 2"/>
          <p:cNvSpPr/>
          <p:nvPr/>
        </p:nvSpPr>
        <p:spPr>
          <a:xfrm>
            <a:off x="502920" y="2148840"/>
            <a:ext cx="8229600" cy="411480"/>
          </a:xfrm>
          <a:prstGeom prst="rect">
            <a:avLst/>
          </a:prstGeom>
          <a:noFill/>
          <a:ln/>
        </p:spPr>
        <p:txBody>
          <a:bodyPr wrap="square" rtlCol="0" anchor="ctr"/>
          <a:lstStyle/>
          <a:p>
            <a:pPr marL="0" indent="0" algn="ctr">
              <a:buNone/>
            </a:pPr>
            <a:r>
              <a:rPr lang="en-US" sz="1800" dirty="0">
                <a:solidFill>
                  <a:srgbClr val="76A9FA"/>
                </a:solidFill>
              </a:rPr>
              <a:t>A working RAG prototype that answers student questions</a:t>
            </a:r>
            <a:endParaRPr lang="en-US" sz="1800" dirty="0"/>
          </a:p>
        </p:txBody>
      </p:sp>
      <p:sp>
        <p:nvSpPr>
          <p:cNvPr id="5" name="Text 3"/>
          <p:cNvSpPr/>
          <p:nvPr/>
        </p:nvSpPr>
        <p:spPr>
          <a:xfrm>
            <a:off x="502920" y="2514600"/>
            <a:ext cx="8229600" cy="365760"/>
          </a:xfrm>
          <a:prstGeom prst="rect">
            <a:avLst/>
          </a:prstGeom>
          <a:noFill/>
          <a:ln/>
        </p:spPr>
        <p:txBody>
          <a:bodyPr wrap="square" rtlCol="0" anchor="ctr"/>
          <a:lstStyle/>
          <a:p>
            <a:pPr marL="0" indent="0" algn="ctr">
              <a:buNone/>
            </a:pPr>
            <a:r>
              <a:rPr lang="en-US" sz="1800" dirty="0">
                <a:solidFill>
                  <a:srgbClr val="76A9FA"/>
                </a:solidFill>
              </a:rPr>
              <a:t>grounded in real HAW Hamburg web content</a:t>
            </a:r>
            <a:endParaRPr lang="en-US" sz="1800" dirty="0"/>
          </a:p>
        </p:txBody>
      </p:sp>
      <p:sp>
        <p:nvSpPr>
          <p:cNvPr id="6" name="Shape 4"/>
          <p:cNvSpPr/>
          <p:nvPr/>
        </p:nvSpPr>
        <p:spPr>
          <a:xfrm>
            <a:off x="2286000" y="3017520"/>
            <a:ext cx="4572000" cy="0"/>
          </a:xfrm>
          <a:prstGeom prst="line">
            <a:avLst/>
          </a:prstGeom>
          <a:noFill/>
          <a:ln w="19050">
            <a:solidFill>
              <a:srgbClr val="1A56DB"/>
            </a:solidFill>
            <a:prstDash val="solid"/>
          </a:ln>
        </p:spPr>
        <p:txBody>
          <a:bodyPr/>
          <a:lstStyle/>
          <a:p>
            <a:endParaRPr lang="en-US"/>
          </a:p>
        </p:txBody>
      </p:sp>
      <p:sp>
        <p:nvSpPr>
          <p:cNvPr id="15" name="Text 13"/>
          <p:cNvSpPr/>
          <p:nvPr/>
        </p:nvSpPr>
        <p:spPr>
          <a:xfrm>
            <a:off x="502920" y="4663440"/>
            <a:ext cx="8229600" cy="256032"/>
          </a:xfrm>
          <a:prstGeom prst="rect">
            <a:avLst/>
          </a:prstGeom>
          <a:noFill/>
          <a:ln/>
        </p:spPr>
        <p:txBody>
          <a:bodyPr wrap="square" rtlCol="0" anchor="ctr"/>
          <a:lstStyle/>
          <a:p>
            <a:pPr marL="0" indent="0" algn="ctr">
              <a:buNone/>
            </a:pPr>
            <a:r>
              <a:rPr lang="en-US" sz="1000" dirty="0">
                <a:solidFill>
                  <a:srgbClr val="94A3B8"/>
                </a:solidFill>
              </a:rPr>
              <a:t>Hamburg University of Applied Sciences  ·  May 2026</a:t>
            </a:r>
            <a:endParaRPr lang="en-US" sz="1000" dirty="0"/>
          </a:p>
        </p:txBody>
      </p:sp>
    </p:spTree>
    <p:extLst>
      <p:ext uri="{BB962C8B-B14F-4D97-AF65-F5344CB8AC3E}">
        <p14:creationId xmlns:p14="http://schemas.microsoft.com/office/powerpoint/2010/main" val="30225666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32EF11E-51DC-7B4B-A0F4-789BA70DBBBF}">
  <we:reference id="wa200010001" version="1.0.0.1" store="en-US" storeType="OMEX"/>
  <we:alternateReferences>
    <we:reference id="wa200010001" version="1.0.0.1" store="en-US" storeType="OMEX"/>
  </we:alternateReferences>
  <we:properties>
    <we:property name="claude.fileId" value="&quot;0191f5a3-9dbf-4145-97d3-6c4a05a2011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1194</Words>
  <Application>Microsoft Macintosh PowerPoint</Application>
  <PresentationFormat>On-screen Show (16:9)</PresentationFormat>
  <Paragraphs>183</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AskHAW — AI Chatbot for HAW Hamburg</dc:title>
  <dc:subject>PptxGenJS Presentation</dc:subject>
  <dc:creator>PptxGenJS</dc:creator>
  <cp:lastModifiedBy>Robin, Mainuddin Monsur</cp:lastModifiedBy>
  <cp:revision>2</cp:revision>
  <dcterms:created xsi:type="dcterms:W3CDTF">2026-05-05T09:59:06Z</dcterms:created>
  <dcterms:modified xsi:type="dcterms:W3CDTF">2026-05-05T17:03:14Z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2026-05-05T17:03:14Z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2c6cac8d-ab61-47b3-8209-4df2e46aefbc</vt:lpwstr>
  </property>
  <property fmtid="{D5CDD505-2E9C-101B-9397-08002B2CF9AE}" pid="7" name="MSIP_Label_defa4170-0d19-0005-0004-bc88714345d2_ActionId">
    <vt:lpwstr>a93d0b65-b17b-4616-a2d5-5557166c4236</vt:lpwstr>
  </property>
  <property fmtid="{D5CDD505-2E9C-101B-9397-08002B2CF9AE}" pid="8" name="MSIP_Label_defa4170-0d19-0005-0004-bc88714345d2_ContentBits">
    <vt:lpwstr>0</vt:lpwstr>
  </property>
  <property fmtid="{D5CDD505-2E9C-101B-9397-08002B2CF9AE}" pid="9" name="MSIP_Label_defa4170-0d19-0005-0004-bc88714345d2_Tag">
    <vt:lpwstr>50, 3, 0, 1</vt:lpwstr>
  </property>
</Properties>
</file>